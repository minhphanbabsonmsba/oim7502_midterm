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9"/>
  </p:notesMasterIdLst>
  <p:sldIdLst>
    <p:sldId id="256" r:id="rId2"/>
    <p:sldId id="274" r:id="rId3"/>
    <p:sldId id="257" r:id="rId4"/>
    <p:sldId id="270" r:id="rId5"/>
    <p:sldId id="273" r:id="rId6"/>
    <p:sldId id="275" r:id="rId7"/>
    <p:sldId id="260" r:id="rId8"/>
    <p:sldId id="261" r:id="rId9"/>
    <p:sldId id="259" r:id="rId10"/>
    <p:sldId id="262" r:id="rId11"/>
    <p:sldId id="263" r:id="rId12"/>
    <p:sldId id="276" r:id="rId13"/>
    <p:sldId id="266" r:id="rId14"/>
    <p:sldId id="265" r:id="rId15"/>
    <p:sldId id="268" r:id="rId16"/>
    <p:sldId id="267" r:id="rId17"/>
    <p:sldId id="277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598"/>
  </p:normalViewPr>
  <p:slideViewPr>
    <p:cSldViewPr snapToGrid="0">
      <p:cViewPr>
        <p:scale>
          <a:sx n="94" d="100"/>
          <a:sy n="94" d="100"/>
        </p:scale>
        <p:origin x="1176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120C4D-DD5B-405B-A483-44DEA9CD1EE4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C28C2E14-516E-4DB0-B145-4C4ECECB708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What is Selenium ? </a:t>
          </a:r>
        </a:p>
      </dgm:t>
    </dgm:pt>
    <dgm:pt modelId="{7BC84816-4A16-4C66-BAA8-F1AFF0B78334}" type="parTrans" cxnId="{6EC88E34-1147-418B-B998-2F07ABC969D7}">
      <dgm:prSet/>
      <dgm:spPr/>
      <dgm:t>
        <a:bodyPr/>
        <a:lstStyle/>
        <a:p>
          <a:endParaRPr lang="en-US"/>
        </a:p>
      </dgm:t>
    </dgm:pt>
    <dgm:pt modelId="{E7B42A94-1C43-483D-BBE5-C0731C9D776E}" type="sibTrans" cxnId="{6EC88E34-1147-418B-B998-2F07ABC969D7}">
      <dgm:prSet/>
      <dgm:spPr/>
      <dgm:t>
        <a:bodyPr/>
        <a:lstStyle/>
        <a:p>
          <a:endParaRPr lang="en-US"/>
        </a:p>
      </dgm:t>
    </dgm:pt>
    <dgm:pt modelId="{D81BFA2C-D64C-4E02-9CEB-511606AD4C3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Industry Examples</a:t>
          </a:r>
        </a:p>
      </dgm:t>
    </dgm:pt>
    <dgm:pt modelId="{42599D68-22F9-4B9A-B87C-336B5A2D9360}" type="parTrans" cxnId="{8673536E-DC9C-4F9F-87B0-85F39E82A3F6}">
      <dgm:prSet/>
      <dgm:spPr/>
      <dgm:t>
        <a:bodyPr/>
        <a:lstStyle/>
        <a:p>
          <a:endParaRPr lang="en-US"/>
        </a:p>
      </dgm:t>
    </dgm:pt>
    <dgm:pt modelId="{B9E6C637-834D-44AF-8314-BF35D4E46D6B}" type="sibTrans" cxnId="{8673536E-DC9C-4F9F-87B0-85F39E82A3F6}">
      <dgm:prSet/>
      <dgm:spPr/>
      <dgm:t>
        <a:bodyPr/>
        <a:lstStyle/>
        <a:p>
          <a:endParaRPr lang="en-US"/>
        </a:p>
      </dgm:t>
    </dgm:pt>
    <dgm:pt modelId="{6350F186-A36A-4AE1-B9E9-6FCD77436D2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Technical Setup and Deep Dive</a:t>
          </a:r>
        </a:p>
      </dgm:t>
    </dgm:pt>
    <dgm:pt modelId="{EA031DD2-0942-4FC1-A74E-57D4B173FE93}" type="parTrans" cxnId="{816585F8-ACB1-4832-BA7D-1A51946BD253}">
      <dgm:prSet/>
      <dgm:spPr/>
      <dgm:t>
        <a:bodyPr/>
        <a:lstStyle/>
        <a:p>
          <a:endParaRPr lang="en-US"/>
        </a:p>
      </dgm:t>
    </dgm:pt>
    <dgm:pt modelId="{F58450AE-1F2A-46DB-9FD9-1A9EE03D1EE2}" type="sibTrans" cxnId="{816585F8-ACB1-4832-BA7D-1A51946BD253}">
      <dgm:prSet/>
      <dgm:spPr/>
      <dgm:t>
        <a:bodyPr/>
        <a:lstStyle/>
        <a:p>
          <a:endParaRPr lang="en-US"/>
        </a:p>
      </dgm:t>
    </dgm:pt>
    <dgm:pt modelId="{056F458C-D92D-49C0-993E-54825C8E8D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Library showcase </a:t>
          </a:r>
        </a:p>
      </dgm:t>
    </dgm:pt>
    <dgm:pt modelId="{FDBC34CA-9B1B-464F-AA1A-444510B9A355}" type="parTrans" cxnId="{22F61FDC-0361-415A-983A-553846A25F7C}">
      <dgm:prSet/>
      <dgm:spPr/>
      <dgm:t>
        <a:bodyPr/>
        <a:lstStyle/>
        <a:p>
          <a:endParaRPr lang="en-US"/>
        </a:p>
      </dgm:t>
    </dgm:pt>
    <dgm:pt modelId="{A03E3B15-AAE2-4122-BAB5-57DF15744C03}" type="sibTrans" cxnId="{22F61FDC-0361-415A-983A-553846A25F7C}">
      <dgm:prSet/>
      <dgm:spPr/>
      <dgm:t>
        <a:bodyPr/>
        <a:lstStyle/>
        <a:p>
          <a:endParaRPr lang="en-US"/>
        </a:p>
      </dgm:t>
    </dgm:pt>
    <dgm:pt modelId="{B3D66858-E7B0-49E3-A8A2-26A57899504A}" type="pres">
      <dgm:prSet presAssocID="{0D120C4D-DD5B-405B-A483-44DEA9CD1EE4}" presName="root" presStyleCnt="0">
        <dgm:presLayoutVars>
          <dgm:dir/>
          <dgm:resizeHandles val="exact"/>
        </dgm:presLayoutVars>
      </dgm:prSet>
      <dgm:spPr/>
    </dgm:pt>
    <dgm:pt modelId="{DFE5AE7D-A4C7-430F-B015-F2489C2526D9}" type="pres">
      <dgm:prSet presAssocID="{C28C2E14-516E-4DB0-B145-4C4ECECB7086}" presName="compNode" presStyleCnt="0"/>
      <dgm:spPr/>
    </dgm:pt>
    <dgm:pt modelId="{61B2DCBC-97BA-402F-B49B-1E55AB5F1161}" type="pres">
      <dgm:prSet presAssocID="{C28C2E14-516E-4DB0-B145-4C4ECECB7086}" presName="bgRect" presStyleLbl="bgShp" presStyleIdx="0" presStyleCnt="4"/>
      <dgm:spPr/>
    </dgm:pt>
    <dgm:pt modelId="{67B6A446-57DD-4921-8CD9-5FB001AC5CEA}" type="pres">
      <dgm:prSet presAssocID="{C28C2E14-516E-4DB0-B145-4C4ECECB708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8A697D86-7E8C-4F1B-A922-B491D7A27749}" type="pres">
      <dgm:prSet presAssocID="{C28C2E14-516E-4DB0-B145-4C4ECECB7086}" presName="spaceRect" presStyleCnt="0"/>
      <dgm:spPr/>
    </dgm:pt>
    <dgm:pt modelId="{9F32DE84-3FEB-4FDB-95D0-1C35E4272FF2}" type="pres">
      <dgm:prSet presAssocID="{C28C2E14-516E-4DB0-B145-4C4ECECB7086}" presName="parTx" presStyleLbl="revTx" presStyleIdx="0" presStyleCnt="4">
        <dgm:presLayoutVars>
          <dgm:chMax val="0"/>
          <dgm:chPref val="0"/>
        </dgm:presLayoutVars>
      </dgm:prSet>
      <dgm:spPr/>
    </dgm:pt>
    <dgm:pt modelId="{8D189DD2-6250-4807-A020-6A5BE58939BE}" type="pres">
      <dgm:prSet presAssocID="{E7B42A94-1C43-483D-BBE5-C0731C9D776E}" presName="sibTrans" presStyleCnt="0"/>
      <dgm:spPr/>
    </dgm:pt>
    <dgm:pt modelId="{EEB312A4-F035-48F0-B4A9-BDD1D88F96D9}" type="pres">
      <dgm:prSet presAssocID="{D81BFA2C-D64C-4E02-9CEB-511606AD4C3B}" presName="compNode" presStyleCnt="0"/>
      <dgm:spPr/>
    </dgm:pt>
    <dgm:pt modelId="{25714331-85A2-4321-B317-710AF815CAD0}" type="pres">
      <dgm:prSet presAssocID="{D81BFA2C-D64C-4E02-9CEB-511606AD4C3B}" presName="bgRect" presStyleLbl="bgShp" presStyleIdx="1" presStyleCnt="4"/>
      <dgm:spPr>
        <a:ln>
          <a:noFill/>
        </a:ln>
      </dgm:spPr>
    </dgm:pt>
    <dgm:pt modelId="{1CB1B9C8-FB44-4EA1-B00B-A1CC1C80D3CD}" type="pres">
      <dgm:prSet presAssocID="{D81BFA2C-D64C-4E02-9CEB-511606AD4C3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39AC203A-2A33-4008-8676-FEF38FE434EE}" type="pres">
      <dgm:prSet presAssocID="{D81BFA2C-D64C-4E02-9CEB-511606AD4C3B}" presName="spaceRect" presStyleCnt="0"/>
      <dgm:spPr/>
    </dgm:pt>
    <dgm:pt modelId="{FAFF37CD-182E-476D-B28D-18D205E55298}" type="pres">
      <dgm:prSet presAssocID="{D81BFA2C-D64C-4E02-9CEB-511606AD4C3B}" presName="parTx" presStyleLbl="revTx" presStyleIdx="1" presStyleCnt="4">
        <dgm:presLayoutVars>
          <dgm:chMax val="0"/>
          <dgm:chPref val="0"/>
        </dgm:presLayoutVars>
      </dgm:prSet>
      <dgm:spPr/>
    </dgm:pt>
    <dgm:pt modelId="{3216AFE9-D851-4BBF-A5CF-0D6B4AD4AA35}" type="pres">
      <dgm:prSet presAssocID="{B9E6C637-834D-44AF-8314-BF35D4E46D6B}" presName="sibTrans" presStyleCnt="0"/>
      <dgm:spPr/>
    </dgm:pt>
    <dgm:pt modelId="{B9AADB0F-51D9-42F1-B02F-9BF4C05E6CA1}" type="pres">
      <dgm:prSet presAssocID="{6350F186-A36A-4AE1-B9E9-6FCD77436D2D}" presName="compNode" presStyleCnt="0"/>
      <dgm:spPr/>
    </dgm:pt>
    <dgm:pt modelId="{944985AE-3535-4AA9-B6D6-E2E4156A27C5}" type="pres">
      <dgm:prSet presAssocID="{6350F186-A36A-4AE1-B9E9-6FCD77436D2D}" presName="bgRect" presStyleLbl="bgShp" presStyleIdx="2" presStyleCnt="4"/>
      <dgm:spPr/>
    </dgm:pt>
    <dgm:pt modelId="{144DFC12-804C-40CF-A40B-592FFBC39403}" type="pres">
      <dgm:prSet presAssocID="{6350F186-A36A-4AE1-B9E9-6FCD77436D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AB0C6CC-0D5E-41D4-9A07-13E35D17EDDF}" type="pres">
      <dgm:prSet presAssocID="{6350F186-A36A-4AE1-B9E9-6FCD77436D2D}" presName="spaceRect" presStyleCnt="0"/>
      <dgm:spPr/>
    </dgm:pt>
    <dgm:pt modelId="{D5361861-10F7-4CA5-A889-0AD17A8FDFC8}" type="pres">
      <dgm:prSet presAssocID="{6350F186-A36A-4AE1-B9E9-6FCD77436D2D}" presName="parTx" presStyleLbl="revTx" presStyleIdx="2" presStyleCnt="4">
        <dgm:presLayoutVars>
          <dgm:chMax val="0"/>
          <dgm:chPref val="0"/>
        </dgm:presLayoutVars>
      </dgm:prSet>
      <dgm:spPr/>
    </dgm:pt>
    <dgm:pt modelId="{07E853C0-9A1A-4112-AC4D-2013B9AB456E}" type="pres">
      <dgm:prSet presAssocID="{F58450AE-1F2A-46DB-9FD9-1A9EE03D1EE2}" presName="sibTrans" presStyleCnt="0"/>
      <dgm:spPr/>
    </dgm:pt>
    <dgm:pt modelId="{0E66EB13-2BB2-42E1-8891-C345CAAEB374}" type="pres">
      <dgm:prSet presAssocID="{056F458C-D92D-49C0-993E-54825C8E8D84}" presName="compNode" presStyleCnt="0"/>
      <dgm:spPr/>
    </dgm:pt>
    <dgm:pt modelId="{3E853DB7-8207-4CC5-9CA2-29FFD8DE903F}" type="pres">
      <dgm:prSet presAssocID="{056F458C-D92D-49C0-993E-54825C8E8D84}" presName="bgRect" presStyleLbl="bgShp" presStyleIdx="3" presStyleCnt="4" custLinFactNeighborX="-5954"/>
      <dgm:spPr/>
    </dgm:pt>
    <dgm:pt modelId="{08920C32-07E9-490D-8A18-DB63985D17B3}" type="pres">
      <dgm:prSet presAssocID="{056F458C-D92D-49C0-993E-54825C8E8D84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403F729D-51D8-41EE-B2A4-0881B88BD979}" type="pres">
      <dgm:prSet presAssocID="{056F458C-D92D-49C0-993E-54825C8E8D84}" presName="spaceRect" presStyleCnt="0"/>
      <dgm:spPr/>
    </dgm:pt>
    <dgm:pt modelId="{79AFA201-B753-46A5-BEF1-34BBE2ACC1C3}" type="pres">
      <dgm:prSet presAssocID="{056F458C-D92D-49C0-993E-54825C8E8D84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EC88E34-1147-418B-B998-2F07ABC969D7}" srcId="{0D120C4D-DD5B-405B-A483-44DEA9CD1EE4}" destId="{C28C2E14-516E-4DB0-B145-4C4ECECB7086}" srcOrd="0" destOrd="0" parTransId="{7BC84816-4A16-4C66-BAA8-F1AFF0B78334}" sibTransId="{E7B42A94-1C43-483D-BBE5-C0731C9D776E}"/>
    <dgm:cxn modelId="{E4AEF348-9816-44A3-96BD-F1137276480E}" type="presOf" srcId="{0D120C4D-DD5B-405B-A483-44DEA9CD1EE4}" destId="{B3D66858-E7B0-49E3-A8A2-26A57899504A}" srcOrd="0" destOrd="0" presId="urn:microsoft.com/office/officeart/2018/2/layout/IconVerticalSolidList"/>
    <dgm:cxn modelId="{8673536E-DC9C-4F9F-87B0-85F39E82A3F6}" srcId="{0D120C4D-DD5B-405B-A483-44DEA9CD1EE4}" destId="{D81BFA2C-D64C-4E02-9CEB-511606AD4C3B}" srcOrd="1" destOrd="0" parTransId="{42599D68-22F9-4B9A-B87C-336B5A2D9360}" sibTransId="{B9E6C637-834D-44AF-8314-BF35D4E46D6B}"/>
    <dgm:cxn modelId="{CC48B5A2-EE9B-471D-AB0B-6C59BB534CED}" type="presOf" srcId="{6350F186-A36A-4AE1-B9E9-6FCD77436D2D}" destId="{D5361861-10F7-4CA5-A889-0AD17A8FDFC8}" srcOrd="0" destOrd="0" presId="urn:microsoft.com/office/officeart/2018/2/layout/IconVerticalSolidList"/>
    <dgm:cxn modelId="{C8FE17B2-B5E0-41EA-95B7-68B03B1A05DF}" type="presOf" srcId="{056F458C-D92D-49C0-993E-54825C8E8D84}" destId="{79AFA201-B753-46A5-BEF1-34BBE2ACC1C3}" srcOrd="0" destOrd="0" presId="urn:microsoft.com/office/officeart/2018/2/layout/IconVerticalSolidList"/>
    <dgm:cxn modelId="{753614CB-790E-46E5-9524-A1473D05B7BB}" type="presOf" srcId="{D81BFA2C-D64C-4E02-9CEB-511606AD4C3B}" destId="{FAFF37CD-182E-476D-B28D-18D205E55298}" srcOrd="0" destOrd="0" presId="urn:microsoft.com/office/officeart/2018/2/layout/IconVerticalSolidList"/>
    <dgm:cxn modelId="{124407CF-B530-4EF7-BD00-7A6DBB7FA57A}" type="presOf" srcId="{C28C2E14-516E-4DB0-B145-4C4ECECB7086}" destId="{9F32DE84-3FEB-4FDB-95D0-1C35E4272FF2}" srcOrd="0" destOrd="0" presId="urn:microsoft.com/office/officeart/2018/2/layout/IconVerticalSolidList"/>
    <dgm:cxn modelId="{22F61FDC-0361-415A-983A-553846A25F7C}" srcId="{0D120C4D-DD5B-405B-A483-44DEA9CD1EE4}" destId="{056F458C-D92D-49C0-993E-54825C8E8D84}" srcOrd="3" destOrd="0" parTransId="{FDBC34CA-9B1B-464F-AA1A-444510B9A355}" sibTransId="{A03E3B15-AAE2-4122-BAB5-57DF15744C03}"/>
    <dgm:cxn modelId="{816585F8-ACB1-4832-BA7D-1A51946BD253}" srcId="{0D120C4D-DD5B-405B-A483-44DEA9CD1EE4}" destId="{6350F186-A36A-4AE1-B9E9-6FCD77436D2D}" srcOrd="2" destOrd="0" parTransId="{EA031DD2-0942-4FC1-A74E-57D4B173FE93}" sibTransId="{F58450AE-1F2A-46DB-9FD9-1A9EE03D1EE2}"/>
    <dgm:cxn modelId="{BBECF58B-F1ED-44DD-BEA2-5896F97EE8FE}" type="presParOf" srcId="{B3D66858-E7B0-49E3-A8A2-26A57899504A}" destId="{DFE5AE7D-A4C7-430F-B015-F2489C2526D9}" srcOrd="0" destOrd="0" presId="urn:microsoft.com/office/officeart/2018/2/layout/IconVerticalSolidList"/>
    <dgm:cxn modelId="{2948231B-2170-4A3E-AA10-4C4A73DA8D98}" type="presParOf" srcId="{DFE5AE7D-A4C7-430F-B015-F2489C2526D9}" destId="{61B2DCBC-97BA-402F-B49B-1E55AB5F1161}" srcOrd="0" destOrd="0" presId="urn:microsoft.com/office/officeart/2018/2/layout/IconVerticalSolidList"/>
    <dgm:cxn modelId="{F9400B19-2CE3-4594-9902-340599C08FCB}" type="presParOf" srcId="{DFE5AE7D-A4C7-430F-B015-F2489C2526D9}" destId="{67B6A446-57DD-4921-8CD9-5FB001AC5CEA}" srcOrd="1" destOrd="0" presId="urn:microsoft.com/office/officeart/2018/2/layout/IconVerticalSolidList"/>
    <dgm:cxn modelId="{426A21AC-5BF0-4789-8D20-14A9D56937E5}" type="presParOf" srcId="{DFE5AE7D-A4C7-430F-B015-F2489C2526D9}" destId="{8A697D86-7E8C-4F1B-A922-B491D7A27749}" srcOrd="2" destOrd="0" presId="urn:microsoft.com/office/officeart/2018/2/layout/IconVerticalSolidList"/>
    <dgm:cxn modelId="{7E5D270D-7D9B-41A7-B4EA-B75936146343}" type="presParOf" srcId="{DFE5AE7D-A4C7-430F-B015-F2489C2526D9}" destId="{9F32DE84-3FEB-4FDB-95D0-1C35E4272FF2}" srcOrd="3" destOrd="0" presId="urn:microsoft.com/office/officeart/2018/2/layout/IconVerticalSolidList"/>
    <dgm:cxn modelId="{19009F84-7CB1-44C6-937E-3CF71170DD5D}" type="presParOf" srcId="{B3D66858-E7B0-49E3-A8A2-26A57899504A}" destId="{8D189DD2-6250-4807-A020-6A5BE58939BE}" srcOrd="1" destOrd="0" presId="urn:microsoft.com/office/officeart/2018/2/layout/IconVerticalSolidList"/>
    <dgm:cxn modelId="{39E2C3BB-82CF-427F-B9AF-D91AF68C694B}" type="presParOf" srcId="{B3D66858-E7B0-49E3-A8A2-26A57899504A}" destId="{EEB312A4-F035-48F0-B4A9-BDD1D88F96D9}" srcOrd="2" destOrd="0" presId="urn:microsoft.com/office/officeart/2018/2/layout/IconVerticalSolidList"/>
    <dgm:cxn modelId="{3187BE96-D3CE-473E-843D-2070010254A4}" type="presParOf" srcId="{EEB312A4-F035-48F0-B4A9-BDD1D88F96D9}" destId="{25714331-85A2-4321-B317-710AF815CAD0}" srcOrd="0" destOrd="0" presId="urn:microsoft.com/office/officeart/2018/2/layout/IconVerticalSolidList"/>
    <dgm:cxn modelId="{CB21A18D-217E-431C-A216-E22E0D65C6B2}" type="presParOf" srcId="{EEB312A4-F035-48F0-B4A9-BDD1D88F96D9}" destId="{1CB1B9C8-FB44-4EA1-B00B-A1CC1C80D3CD}" srcOrd="1" destOrd="0" presId="urn:microsoft.com/office/officeart/2018/2/layout/IconVerticalSolidList"/>
    <dgm:cxn modelId="{731FB667-E0A6-41B1-A942-650F8BEE8940}" type="presParOf" srcId="{EEB312A4-F035-48F0-B4A9-BDD1D88F96D9}" destId="{39AC203A-2A33-4008-8676-FEF38FE434EE}" srcOrd="2" destOrd="0" presId="urn:microsoft.com/office/officeart/2018/2/layout/IconVerticalSolidList"/>
    <dgm:cxn modelId="{0A54C5C9-2AED-48EE-94E6-016BAE2D5773}" type="presParOf" srcId="{EEB312A4-F035-48F0-B4A9-BDD1D88F96D9}" destId="{FAFF37CD-182E-476D-B28D-18D205E55298}" srcOrd="3" destOrd="0" presId="urn:microsoft.com/office/officeart/2018/2/layout/IconVerticalSolidList"/>
    <dgm:cxn modelId="{567FFC0A-BEDC-4515-8149-A097A8CFF633}" type="presParOf" srcId="{B3D66858-E7B0-49E3-A8A2-26A57899504A}" destId="{3216AFE9-D851-4BBF-A5CF-0D6B4AD4AA35}" srcOrd="3" destOrd="0" presId="urn:microsoft.com/office/officeart/2018/2/layout/IconVerticalSolidList"/>
    <dgm:cxn modelId="{34B37AB7-12C9-4F2C-B5F0-81C698A51577}" type="presParOf" srcId="{B3D66858-E7B0-49E3-A8A2-26A57899504A}" destId="{B9AADB0F-51D9-42F1-B02F-9BF4C05E6CA1}" srcOrd="4" destOrd="0" presId="urn:microsoft.com/office/officeart/2018/2/layout/IconVerticalSolidList"/>
    <dgm:cxn modelId="{89F1BE80-5F34-42B6-8F0B-CDB5866F6BDD}" type="presParOf" srcId="{B9AADB0F-51D9-42F1-B02F-9BF4C05E6CA1}" destId="{944985AE-3535-4AA9-B6D6-E2E4156A27C5}" srcOrd="0" destOrd="0" presId="urn:microsoft.com/office/officeart/2018/2/layout/IconVerticalSolidList"/>
    <dgm:cxn modelId="{7E20D98C-3FB4-4926-A1F3-9A8296DEBCE3}" type="presParOf" srcId="{B9AADB0F-51D9-42F1-B02F-9BF4C05E6CA1}" destId="{144DFC12-804C-40CF-A40B-592FFBC39403}" srcOrd="1" destOrd="0" presId="urn:microsoft.com/office/officeart/2018/2/layout/IconVerticalSolidList"/>
    <dgm:cxn modelId="{551E3DA4-8321-4F9A-905B-B823BE4016B9}" type="presParOf" srcId="{B9AADB0F-51D9-42F1-B02F-9BF4C05E6CA1}" destId="{DAB0C6CC-0D5E-41D4-9A07-13E35D17EDDF}" srcOrd="2" destOrd="0" presId="urn:microsoft.com/office/officeart/2018/2/layout/IconVerticalSolidList"/>
    <dgm:cxn modelId="{5095AD18-0DE9-475A-9D2F-7EEB7ED005A8}" type="presParOf" srcId="{B9AADB0F-51D9-42F1-B02F-9BF4C05E6CA1}" destId="{D5361861-10F7-4CA5-A889-0AD17A8FDFC8}" srcOrd="3" destOrd="0" presId="urn:microsoft.com/office/officeart/2018/2/layout/IconVerticalSolidList"/>
    <dgm:cxn modelId="{F2157D9A-E0ED-458A-8460-7C67E749F4B2}" type="presParOf" srcId="{B3D66858-E7B0-49E3-A8A2-26A57899504A}" destId="{07E853C0-9A1A-4112-AC4D-2013B9AB456E}" srcOrd="5" destOrd="0" presId="urn:microsoft.com/office/officeart/2018/2/layout/IconVerticalSolidList"/>
    <dgm:cxn modelId="{120E7B08-4C91-40DD-8BA3-CC8AE7DE60C6}" type="presParOf" srcId="{B3D66858-E7B0-49E3-A8A2-26A57899504A}" destId="{0E66EB13-2BB2-42E1-8891-C345CAAEB374}" srcOrd="6" destOrd="0" presId="urn:microsoft.com/office/officeart/2018/2/layout/IconVerticalSolidList"/>
    <dgm:cxn modelId="{DEC7E6A1-ECAE-48F3-A7AC-6CBDAF8E1649}" type="presParOf" srcId="{0E66EB13-2BB2-42E1-8891-C345CAAEB374}" destId="{3E853DB7-8207-4CC5-9CA2-29FFD8DE903F}" srcOrd="0" destOrd="0" presId="urn:microsoft.com/office/officeart/2018/2/layout/IconVerticalSolidList"/>
    <dgm:cxn modelId="{6350B39C-6947-4885-ACAF-34A4A77FF8BF}" type="presParOf" srcId="{0E66EB13-2BB2-42E1-8891-C345CAAEB374}" destId="{08920C32-07E9-490D-8A18-DB63985D17B3}" srcOrd="1" destOrd="0" presId="urn:microsoft.com/office/officeart/2018/2/layout/IconVerticalSolidList"/>
    <dgm:cxn modelId="{5AE9473B-C866-4CCC-854E-FD1566C4FE42}" type="presParOf" srcId="{0E66EB13-2BB2-42E1-8891-C345CAAEB374}" destId="{403F729D-51D8-41EE-B2A4-0881B88BD979}" srcOrd="2" destOrd="0" presId="urn:microsoft.com/office/officeart/2018/2/layout/IconVerticalSolidList"/>
    <dgm:cxn modelId="{18E2F654-AAE6-4F9A-9757-2EB291139D6A}" type="presParOf" srcId="{0E66EB13-2BB2-42E1-8891-C345CAAEB374}" destId="{79AFA201-B753-46A5-BEF1-34BBE2ACC1C3}" srcOrd="3" destOrd="0" presId="urn:microsoft.com/office/officeart/2018/2/layout/IconVerticalSolidList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B2DCBC-97BA-402F-B49B-1E55AB5F1161}">
      <dsp:nvSpPr>
        <dsp:cNvPr id="0" name=""/>
        <dsp:cNvSpPr/>
      </dsp:nvSpPr>
      <dsp:spPr>
        <a:xfrm>
          <a:off x="0" y="2110"/>
          <a:ext cx="7525512" cy="106944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B6A446-57DD-4921-8CD9-5FB001AC5CEA}">
      <dsp:nvSpPr>
        <dsp:cNvPr id="0" name=""/>
        <dsp:cNvSpPr/>
      </dsp:nvSpPr>
      <dsp:spPr>
        <a:xfrm>
          <a:off x="323505" y="242734"/>
          <a:ext cx="588192" cy="58819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32DE84-3FEB-4FDB-95D0-1C35E4272FF2}">
      <dsp:nvSpPr>
        <dsp:cNvPr id="0" name=""/>
        <dsp:cNvSpPr/>
      </dsp:nvSpPr>
      <dsp:spPr>
        <a:xfrm>
          <a:off x="1235204" y="2110"/>
          <a:ext cx="6290307" cy="106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82" tIns="113182" rIns="113182" bIns="1131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What is Selenium ? </a:t>
          </a:r>
        </a:p>
      </dsp:txBody>
      <dsp:txXfrm>
        <a:off x="1235204" y="2110"/>
        <a:ext cx="6290307" cy="1069440"/>
      </dsp:txXfrm>
    </dsp:sp>
    <dsp:sp modelId="{25714331-85A2-4321-B317-710AF815CAD0}">
      <dsp:nvSpPr>
        <dsp:cNvPr id="0" name=""/>
        <dsp:cNvSpPr/>
      </dsp:nvSpPr>
      <dsp:spPr>
        <a:xfrm>
          <a:off x="0" y="1338911"/>
          <a:ext cx="7525512" cy="106944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CB1B9C8-FB44-4EA1-B00B-A1CC1C80D3CD}">
      <dsp:nvSpPr>
        <dsp:cNvPr id="0" name=""/>
        <dsp:cNvSpPr/>
      </dsp:nvSpPr>
      <dsp:spPr>
        <a:xfrm>
          <a:off x="323505" y="1579535"/>
          <a:ext cx="588192" cy="58819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FF37CD-182E-476D-B28D-18D205E55298}">
      <dsp:nvSpPr>
        <dsp:cNvPr id="0" name=""/>
        <dsp:cNvSpPr/>
      </dsp:nvSpPr>
      <dsp:spPr>
        <a:xfrm>
          <a:off x="1235204" y="1338911"/>
          <a:ext cx="6290307" cy="106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82" tIns="113182" rIns="113182" bIns="1131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Industry Examples</a:t>
          </a:r>
        </a:p>
      </dsp:txBody>
      <dsp:txXfrm>
        <a:off x="1235204" y="1338911"/>
        <a:ext cx="6290307" cy="1069440"/>
      </dsp:txXfrm>
    </dsp:sp>
    <dsp:sp modelId="{944985AE-3535-4AA9-B6D6-E2E4156A27C5}">
      <dsp:nvSpPr>
        <dsp:cNvPr id="0" name=""/>
        <dsp:cNvSpPr/>
      </dsp:nvSpPr>
      <dsp:spPr>
        <a:xfrm>
          <a:off x="0" y="2675712"/>
          <a:ext cx="7525512" cy="106944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4DFC12-804C-40CF-A40B-592FFBC39403}">
      <dsp:nvSpPr>
        <dsp:cNvPr id="0" name=""/>
        <dsp:cNvSpPr/>
      </dsp:nvSpPr>
      <dsp:spPr>
        <a:xfrm>
          <a:off x="323505" y="2916336"/>
          <a:ext cx="588192" cy="58819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361861-10F7-4CA5-A889-0AD17A8FDFC8}">
      <dsp:nvSpPr>
        <dsp:cNvPr id="0" name=""/>
        <dsp:cNvSpPr/>
      </dsp:nvSpPr>
      <dsp:spPr>
        <a:xfrm>
          <a:off x="1235204" y="2675712"/>
          <a:ext cx="6290307" cy="106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82" tIns="113182" rIns="113182" bIns="1131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Technical Setup and Deep Dive</a:t>
          </a:r>
        </a:p>
      </dsp:txBody>
      <dsp:txXfrm>
        <a:off x="1235204" y="2675712"/>
        <a:ext cx="6290307" cy="1069440"/>
      </dsp:txXfrm>
    </dsp:sp>
    <dsp:sp modelId="{3E853DB7-8207-4CC5-9CA2-29FFD8DE903F}">
      <dsp:nvSpPr>
        <dsp:cNvPr id="0" name=""/>
        <dsp:cNvSpPr/>
      </dsp:nvSpPr>
      <dsp:spPr>
        <a:xfrm>
          <a:off x="0" y="4012513"/>
          <a:ext cx="7525512" cy="1069440"/>
        </a:xfrm>
        <a:prstGeom prst="roundRect">
          <a:avLst>
            <a:gd name="adj" fmla="val 10000"/>
          </a:avLst>
        </a:prstGeom>
        <a:solidFill>
          <a:schemeClr val="dk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920C32-07E9-490D-8A18-DB63985D17B3}">
      <dsp:nvSpPr>
        <dsp:cNvPr id="0" name=""/>
        <dsp:cNvSpPr/>
      </dsp:nvSpPr>
      <dsp:spPr>
        <a:xfrm>
          <a:off x="323505" y="4253137"/>
          <a:ext cx="588192" cy="58819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AFA201-B753-46A5-BEF1-34BBE2ACC1C3}">
      <dsp:nvSpPr>
        <dsp:cNvPr id="0" name=""/>
        <dsp:cNvSpPr/>
      </dsp:nvSpPr>
      <dsp:spPr>
        <a:xfrm>
          <a:off x="1235204" y="4012513"/>
          <a:ext cx="6290307" cy="10694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3182" tIns="113182" rIns="113182" bIns="113182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Library showcase </a:t>
          </a:r>
        </a:p>
      </dsp:txBody>
      <dsp:txXfrm>
        <a:off x="1235204" y="4012513"/>
        <a:ext cx="6290307" cy="10694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5D9CA2-542B-0A49-8F43-5D29D434D5E2}" type="datetimeFigureOut">
              <a:rPr lang="en-US" smtClean="0"/>
              <a:t>11/2/25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94CD77-B4EF-6A42-BCF9-E41288FFA3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1847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194CD77-B4EF-6A42-BCF9-E41288FFA3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03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 title="Page Number Shape">
            <a:extLst>
              <a:ext uri="{FF2B5EF4-FFF2-40B4-BE49-F238E27FC236}">
                <a16:creationId xmlns:a16="http://schemas.microsoft.com/office/drawing/2014/main" id="{DD4C4B28-6B4B-4445-8535-F516D74E4AA9}"/>
              </a:ext>
            </a:extLst>
          </p:cNvPr>
          <p:cNvSpPr/>
          <p:nvPr/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2" name="Straight Connector 11" title="Verticle Rule Line">
            <a:extLst>
              <a:ext uri="{FF2B5EF4-FFF2-40B4-BE49-F238E27FC236}">
                <a16:creationId xmlns:a16="http://schemas.microsoft.com/office/drawing/2014/main" id="{0CB1C732-7193-4253-8746-850D090A6B4E}"/>
              </a:ext>
            </a:extLst>
          </p:cNvPr>
          <p:cNvCxnSpPr>
            <a:cxnSpLocks/>
          </p:cNvCxnSpPr>
          <p:nvPr/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F03AA199-952B-427F-A5BE-B97D25FD07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8992" y="1143000"/>
            <a:ext cx="6720840" cy="3730752"/>
          </a:xfrm>
        </p:spPr>
        <p:txBody>
          <a:bodyPr anchor="t">
            <a:normAutofit/>
          </a:bodyPr>
          <a:lstStyle>
            <a:lvl1pPr algn="l"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1AA393-A876-475F-A05B-1CCAB6C1F0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8992" y="5010912"/>
            <a:ext cx="6720840" cy="70408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395621-D631-4F31-AEEF-C8574E5073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86356" y="6007608"/>
            <a:ext cx="3143643" cy="365125"/>
          </a:xfrm>
        </p:spPr>
        <p:txBody>
          <a:bodyPr/>
          <a:lstStyle/>
          <a:p>
            <a:fld id="{53BEF823-48A5-43FC-BE03-E79964288B41}" type="datetimeFigureOut">
              <a:rPr lang="en-US" smtClean="0"/>
              <a:t>10/31/25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EE125-77AD-4E23-AFB7-C5CFDEACA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78991" y="6007608"/>
            <a:ext cx="672083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569682-B530-4F52-87B9-39464A093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ctr">
              <a:defRPr/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0112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351BD-5252-4168-A69E-C6864AE297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748EEE-19C9-493B-836D-73B9E4A0BE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FA6BFE-11ED-4FB4-9F65-508B5B0F0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10/31/25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F536E-BEFF-4E0D-B4EC-39DE28C6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EE02AF-6FE1-4972-BD48-A82499AD6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5003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452EE-D9FC-4E51-9BFF-141F9192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3051" y="2414016"/>
            <a:ext cx="10666949" cy="3099816"/>
          </a:xfrm>
        </p:spPr>
        <p:txBody>
          <a:bodyPr anchor="t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086C4-4949-4E7A-A182-6709496A1C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58952" y="1389888"/>
            <a:ext cx="10671048" cy="822960"/>
          </a:xfrm>
        </p:spPr>
        <p:txBody>
          <a:bodyPr anchor="ctr">
            <a:normAutofit/>
          </a:bodyPr>
          <a:lstStyle>
            <a:lvl1pPr marL="0" indent="0">
              <a:buNone/>
              <a:defRPr sz="2000" i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12BC88-6A2B-4851-9568-23A4B74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10/31/25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82CFE5-65C3-4F46-9141-464545594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21B390-4E13-4481-AC02-FF126656C4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1229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0E02F8-47BB-4D30-8EFE-69C9222D9E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84648" y="758952"/>
            <a:ext cx="6245352" cy="22402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44D33-6BF0-4205-A542-8537E3515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84647" y="3273551"/>
            <a:ext cx="6245351" cy="22402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D6953A83-D2BE-4015-8D64-BE93DDFE5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10/31/25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A849E67-05F9-4033-B033-74D6B8C8E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FAAC6AA-CFFB-438F-9327-DDB023E2E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4960CB-ABA7-4442-AB15-FE444F23C6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49834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348291-9C7D-407E-8D07-FA3A323EA9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A192D2-8BA6-4A4D-814D-AD37A2A10A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90323" y="1377198"/>
            <a:ext cx="6239675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6FD4BC-C948-41C4-BA24-5D26147E1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184647" y="3319548"/>
            <a:ext cx="6245351" cy="548640"/>
          </a:xfrm>
        </p:spPr>
        <p:txBody>
          <a:bodyPr anchor="b"/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2E359C-F73D-4F1B-9F9A-6D628567105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184646" y="3932372"/>
            <a:ext cx="6245352" cy="1828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76B63AE-38FF-40DD-A543-32DD98E6B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C686C0EB-E082-4BAB-99E8-B42F3C28B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10/31/25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3CB0152-BA1F-48C7-A66F-3ADB51C94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D1C21B3-5CF6-415F-8295-EED3DF5CB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465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470D5-4EB9-4410-A8AE-6D85F19239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887FB59-BA77-4864-B9E8-994851250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10/31/25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F0BC0B-BA67-455B-B567-1473DF062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CF0BCF3-6FB5-4529-AA6A-A31467351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92987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F1315B-6865-4A5A-91C1-B75339038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10/31/25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536720-08C7-43DE-8EB5-CAB52D0E9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477AF-B012-491C-AE42-22DE120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59895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D183AC-72A9-43F5-A1B3-1D7A6A4C7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758951"/>
            <a:ext cx="6245352" cy="475488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045592-52ED-4270-ACBB-BCC528DAC4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3" y="3815080"/>
            <a:ext cx="3831336" cy="169875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9A93518-F9B5-418F-9883-BEF8359B0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10/31/25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7B9FFE7-C4AB-425B-9B56-E412C7221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59231052-EBA8-4781-B28A-2FEA8BE5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DBF9E7-F686-4FA1-9BA5-69BDD014B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3017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9762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116CF06-B27C-4DC4-981D-38E31997BD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758951"/>
            <a:ext cx="6245352" cy="4754881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76E66-2CB3-4F47-97F6-077C42818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58952" y="3794760"/>
            <a:ext cx="3831336" cy="1719072"/>
          </a:xfrm>
        </p:spPr>
        <p:txBody>
          <a:bodyPr>
            <a:normAutofit/>
          </a:bodyPr>
          <a:lstStyle>
            <a:lvl1pPr marL="0" indent="0">
              <a:buNone/>
              <a:defRPr sz="2000" baseline="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414C9F-CBBD-4D5E-A831-BC0CDFEBC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10/31/25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58DC0C8-B580-442D-8DAC-4F0F869B1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0D29E8-DFEE-49AB-83AF-85FF25252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EAAF1B-6B6E-4D37-8F57-E403C6371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29260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15446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59FCF-ACDF-495D-ACFA-15FCAC9EAE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3786E3-AB17-427E-8EF8-7FCB671A11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833B4E9-7A16-448C-8BE6-B14941A34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10/31/25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9212F5-5835-49FF-836F-5E3008A0E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9D492B-E5EE-4D24-A087-57D739CFA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310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31E395-94BD-4E79-8E42-9CD4EB33CA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475542" y="758952"/>
            <a:ext cx="2954458" cy="498600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9AA8A4-66BC-4E80-ABE3-F533F82B8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758952" y="758952"/>
            <a:ext cx="7407586" cy="49860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DA4EA6-6A1A-48ED-9D79-A438561C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53BEF823-48A5-43FC-BE03-E79964288B41}" type="datetimeFigureOut">
              <a:rPr lang="en-US" smtClean="0"/>
              <a:pPr algn="r"/>
              <a:t>10/31/25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49B2BA-9250-4EBF-8820-10BDA5C1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914475-55F3-4C46-BAE2-E4D93E9E3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94642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 title="Page Number Shape">
            <a:extLst>
              <a:ext uri="{FF2B5EF4-FFF2-40B4-BE49-F238E27FC236}">
                <a16:creationId xmlns:a16="http://schemas.microsoft.com/office/drawing/2014/main" id="{72411438-92A5-42B0-9C54-EA4FB32ACB5E}"/>
              </a:ext>
            </a:extLst>
          </p:cNvPr>
          <p:cNvSpPr/>
          <p:nvPr/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6E4D8-47B6-4DEC-BD29-B3B6ED4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758952"/>
            <a:ext cx="3831336" cy="47548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F5D4C-4873-4052-A294-99CCB9421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84648" y="758952"/>
            <a:ext cx="6245352" cy="47548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1D62B3-3490-46B4-A10E-33FCE4A1FB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16952" y="6007608"/>
            <a:ext cx="38130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r"/>
            <a:fld id="{53BEF823-48A5-43FC-BE03-E79964288B41}" type="datetimeFigureOut">
              <a:rPr lang="en-US" smtClean="0"/>
              <a:pPr algn="r"/>
              <a:t>10/31/25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424CB1-7D5F-4F52-9F99-7068F5819E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8952" y="6007608"/>
            <a:ext cx="38313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spc="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1F9CC9-1431-4569-B2F1-D048149553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86616" y="6007608"/>
            <a:ext cx="411480" cy="365125"/>
          </a:xfrm>
          <a:prstGeom prst="rect">
            <a:avLst/>
          </a:prstGeom>
        </p:spPr>
        <p:txBody>
          <a:bodyPr vert="horz" lIns="45720" tIns="45720" rIns="45720" bIns="45720" rtlCol="0" anchor="ctr"/>
          <a:lstStyle>
            <a:lvl1pPr algn="r">
              <a:defRPr sz="900" b="1">
                <a:solidFill>
                  <a:schemeClr val="bg1"/>
                </a:solidFill>
              </a:defRPr>
            </a:lvl1pPr>
          </a:lstStyle>
          <a:p>
            <a:pPr algn="ctr"/>
            <a:fld id="{D79E6812-DF0E-4B88-AFAA-EAC7168F54C0}" type="slidenum">
              <a:rPr lang="en-US" smtClean="0"/>
              <a:pPr algn="ctr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939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i="1" kern="1200" spc="1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8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82880" indent="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None/>
        <a:defRPr sz="14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82880" indent="-182880" algn="l" defTabSz="914400" rtl="0" eaLnBrk="1" latinLnBrk="0" hangingPunct="1">
        <a:lnSpc>
          <a:spcPct val="110000"/>
        </a:lnSpc>
        <a:spcBef>
          <a:spcPts val="400"/>
        </a:spcBef>
        <a:spcAft>
          <a:spcPts val="400"/>
        </a:spcAft>
        <a:buClrTx/>
        <a:buFont typeface="Arial" panose="020B0604020202020204" pitchFamily="34" charset="0"/>
        <a:buChar char="•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hyperlink" Target="https://www.formula1.com/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102078-F6C7-8736-BC79-009881EBD4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78915" y="1215681"/>
            <a:ext cx="5961725" cy="3339390"/>
          </a:xfrm>
        </p:spPr>
        <p:txBody>
          <a:bodyPr anchor="ctr">
            <a:normAutofit/>
          </a:bodyPr>
          <a:lstStyle/>
          <a:p>
            <a:r>
              <a:rPr lang="en-US" sz="6000" dirty="0">
                <a:solidFill>
                  <a:schemeClr val="tx1"/>
                </a:solidFill>
              </a:rPr>
              <a:t>Selenium Library for Data Science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16E0BE-5B06-9EF2-6121-EC973B83B0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78914" y="4876803"/>
            <a:ext cx="5528141" cy="909848"/>
          </a:xfrm>
        </p:spPr>
        <p:txBody>
          <a:bodyPr anchor="t">
            <a:normAutofit/>
          </a:bodyPr>
          <a:lstStyle/>
          <a:p>
            <a:r>
              <a:rPr lang="en-US" sz="2000" b="1" dirty="0">
                <a:solidFill>
                  <a:schemeClr val="tx1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Selenium WebDriver: Automating Web Data Collection for Data Scientists</a:t>
            </a:r>
            <a:endParaRPr lang="en-US" sz="2000" dirty="0">
              <a:solidFill>
                <a:schemeClr val="tx1"/>
              </a:solidFill>
            </a:endParaRPr>
          </a:p>
          <a:p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AD3D935-ECFC-4862-B395-207C13BAC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A green logo with a white background&#10;&#10;AI-generated content may be incorrect.">
            <a:extLst>
              <a:ext uri="{FF2B5EF4-FFF2-40B4-BE49-F238E27FC236}">
                <a16:creationId xmlns:a16="http://schemas.microsoft.com/office/drawing/2014/main" id="{50CD2DC2-DE13-2014-96D9-10889DE147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00" y="2589088"/>
            <a:ext cx="3889081" cy="2012599"/>
          </a:xfrm>
          <a:prstGeom prst="rect">
            <a:avLst/>
          </a:prstGeom>
        </p:spPr>
      </p:pic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040331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1309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84F5C-074D-3F74-7342-7715EDD82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198" y="2651734"/>
            <a:ext cx="2823339" cy="2012733"/>
          </a:xfrm>
        </p:spPr>
        <p:txBody>
          <a:bodyPr>
            <a:normAutofit/>
          </a:bodyPr>
          <a:lstStyle/>
          <a:p>
            <a:r>
              <a:rPr lang="en-US" dirty="0"/>
              <a:t>Table of Content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6CF067-46C4-50B7-BD6A-1BBDC37E1D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1127377"/>
              </p:ext>
            </p:extLst>
          </p:nvPr>
        </p:nvGraphicFramePr>
        <p:xfrm>
          <a:off x="3774950" y="1110996"/>
          <a:ext cx="7525512" cy="50840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67194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24265F-A281-6F32-0BD7-22D505790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7532" y="1959431"/>
            <a:ext cx="5974042" cy="910551"/>
          </a:xfrm>
        </p:spPr>
        <p:txBody>
          <a:bodyPr>
            <a:normAutofit fontScale="90000"/>
          </a:bodyPr>
          <a:lstStyle/>
          <a:p>
            <a:r>
              <a:rPr lang="en-US" dirty="0"/>
              <a:t>What is Selenium?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66585E6E-D941-7C67-B124-C342D081BFB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705" r="44535" b="-1"/>
          <a:stretch>
            <a:fillRect/>
          </a:stretch>
        </p:blipFill>
        <p:spPr>
          <a:xfrm>
            <a:off x="1" y="10"/>
            <a:ext cx="5215066" cy="6857990"/>
          </a:xfrm>
          <a:custGeom>
            <a:avLst/>
            <a:gdLst/>
            <a:ahLst/>
            <a:cxnLst/>
            <a:rect l="l" t="t" r="r" b="b"/>
            <a:pathLst>
              <a:path w="5215066" h="6845983">
                <a:moveTo>
                  <a:pt x="0" y="0"/>
                </a:moveTo>
                <a:lnTo>
                  <a:pt x="3197713" y="0"/>
                </a:lnTo>
                <a:lnTo>
                  <a:pt x="3259787" y="39795"/>
                </a:lnTo>
                <a:cubicBezTo>
                  <a:pt x="4439462" y="836768"/>
                  <a:pt x="5215066" y="2186425"/>
                  <a:pt x="5215066" y="3717234"/>
                </a:cubicBezTo>
                <a:cubicBezTo>
                  <a:pt x="5215066" y="4788800"/>
                  <a:pt x="4835020" y="5771602"/>
                  <a:pt x="4202364" y="6538204"/>
                </a:cubicBezTo>
                <a:lnTo>
                  <a:pt x="3922635" y="6845983"/>
                </a:lnTo>
                <a:lnTo>
                  <a:pt x="0" y="6845983"/>
                </a:lnTo>
                <a:close/>
              </a:path>
            </a:pathLst>
          </a:cu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1FC086D-39EC-448D-97E7-FF232355A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986332" y="3088919"/>
            <a:ext cx="521208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DF3E30-842A-95A4-D708-FDCC516CA8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7531" y="3195269"/>
            <a:ext cx="5677160" cy="3549912"/>
          </a:xfrm>
        </p:spPr>
        <p:txBody>
          <a:bodyPr anchor="ctr">
            <a:normAutofit fontScale="85000" lnSpcReduction="20000"/>
          </a:bodyPr>
          <a:lstStyle/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400" b="1" dirty="0"/>
              <a:t>Library:</a:t>
            </a:r>
            <a:r>
              <a:rPr lang="en-US" sz="1400" dirty="0"/>
              <a:t> Selenium WebDriver 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400" b="1" dirty="0"/>
              <a:t>Purpose:</a:t>
            </a:r>
            <a:r>
              <a:rPr lang="en-US" sz="1400" dirty="0"/>
              <a:t> Browser automation and web scraping for dynamic content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/>
            </a:pPr>
            <a:r>
              <a:rPr lang="en-US" sz="1400" b="1" dirty="0"/>
              <a:t>Key Capabilities: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/>
              <a:t>Control web browsers programmatically (Chrome, Firefox, Safari, Edge)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Handle JavaScript-heavy websites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Simulate user interactions (clicks, forms, scrolling)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Extract data from complex web applications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Wait for dynamic content to load</a:t>
            </a:r>
          </a:p>
          <a:p>
            <a:pPr marL="228600" indent="-228600">
              <a:lnSpc>
                <a:spcPct val="120000"/>
              </a:lnSpc>
              <a:buFont typeface="+mj-lt"/>
              <a:buAutoNum type="arabicPeriod" startAt="4"/>
            </a:pPr>
            <a:r>
              <a:rPr lang="en-US" sz="1400" b="1" dirty="0"/>
              <a:t>Why Data Scientists Need It:</a:t>
            </a:r>
            <a:endParaRPr lang="en-US" sz="1400" dirty="0"/>
          </a:p>
          <a:p>
            <a:pPr>
              <a:lnSpc>
                <a:spcPct val="120000"/>
              </a:lnSpc>
            </a:pPr>
            <a:r>
              <a:rPr lang="en-US" sz="1400" dirty="0"/>
              <a:t>Real-time data collection from websites without APIs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Scraping dynamic content that traditional HTTP libraries can't access</a:t>
            </a:r>
          </a:p>
          <a:p>
            <a:pPr>
              <a:lnSpc>
                <a:spcPct val="120000"/>
              </a:lnSpc>
            </a:pPr>
            <a:r>
              <a:rPr lang="en-US" sz="1400" dirty="0"/>
              <a:t>Automating repetitive data gathering tasks</a:t>
            </a:r>
          </a:p>
          <a:p>
            <a:pPr>
              <a:lnSpc>
                <a:spcPct val="120000"/>
              </a:lnSpc>
            </a:pPr>
            <a:endParaRPr lang="en-US" sz="1400" dirty="0"/>
          </a:p>
        </p:txBody>
      </p:sp>
      <p:sp>
        <p:nvSpPr>
          <p:cNvPr id="19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15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F0E6F75-1F6D-92EF-B087-3DB3F1DA9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336" y="3918768"/>
            <a:ext cx="3255264" cy="203216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i="1" kern="1200" spc="1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Industry Examples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EF13EA1-F66C-4347-AEBF-A5438DF27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5"/>
            <a:ext cx="12191999" cy="3474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 descr="A group of people standing next to a large blue letter&#10;&#10;AI-generated content may be incorrect.">
            <a:extLst>
              <a:ext uri="{FF2B5EF4-FFF2-40B4-BE49-F238E27FC236}">
                <a16:creationId xmlns:a16="http://schemas.microsoft.com/office/drawing/2014/main" id="{C6C5EC76-412B-1953-5AF0-C8508B94B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1" y="444063"/>
            <a:ext cx="5173133" cy="2586565"/>
          </a:xfrm>
          <a:prstGeom prst="rect">
            <a:avLst/>
          </a:prstGeom>
        </p:spPr>
      </p:pic>
      <p:pic>
        <p:nvPicPr>
          <p:cNvPr id="7" name="Picture 6" descr="Magnifying glass showing decling performance">
            <a:extLst>
              <a:ext uri="{FF2B5EF4-FFF2-40B4-BE49-F238E27FC236}">
                <a16:creationId xmlns:a16="http://schemas.microsoft.com/office/drawing/2014/main" id="{9FBB6B46-47AB-15B6-CC7C-AA309AA65AD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019" b="6711"/>
          <a:stretch>
            <a:fillRect/>
          </a:stretch>
        </p:blipFill>
        <p:spPr>
          <a:xfrm>
            <a:off x="6544394" y="442291"/>
            <a:ext cx="4604618" cy="2590109"/>
          </a:xfrm>
          <a:prstGeom prst="rect">
            <a:avLst/>
          </a:prstGeom>
        </p:spPr>
      </p:pic>
      <p:sp>
        <p:nvSpPr>
          <p:cNvPr id="30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2" y="132777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5AFE1AE-CD67-FB3C-BF3A-1567A571E4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6401" y="3474690"/>
            <a:ext cx="7705598" cy="3383310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2800" b="1" dirty="0"/>
              <a:t>Job Market &amp; HR Analytics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/>
            </a:pPr>
            <a:r>
              <a:rPr lang="en-US" sz="1400" b="1" dirty="0"/>
              <a:t>Use Cases:</a:t>
            </a:r>
            <a:endParaRPr lang="en-US" sz="1400" dirty="0"/>
          </a:p>
          <a:p>
            <a:pPr>
              <a:lnSpc>
                <a:spcPct val="150000"/>
              </a:lnSpc>
            </a:pPr>
            <a:r>
              <a:rPr lang="en-US" sz="1400" b="1" dirty="0"/>
              <a:t>Salary Benchmarking</a:t>
            </a:r>
            <a:r>
              <a:rPr lang="en-US" sz="1400" dirty="0"/>
              <a:t>: Collecting compensation data from job postings across industries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Skills Demand Analysis</a:t>
            </a:r>
            <a:r>
              <a:rPr lang="en-US" sz="1400" dirty="0"/>
              <a:t>: Identifying trending skills and technologies in job descriptions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Talent Pool Mapping</a:t>
            </a:r>
            <a:r>
              <a:rPr lang="en-US" sz="1400" dirty="0"/>
              <a:t>: Tracking where companies are hiring and for what positions</a:t>
            </a:r>
          </a:p>
          <a:p>
            <a:pPr>
              <a:lnSpc>
                <a:spcPct val="150000"/>
              </a:lnSpc>
            </a:pPr>
            <a:r>
              <a:rPr lang="en-US" sz="1400" b="1" dirty="0"/>
              <a:t>Recruitment Intelligence</a:t>
            </a:r>
            <a:r>
              <a:rPr lang="en-US" sz="1400" dirty="0"/>
              <a:t>: Monitoring competitor hiring patterns and organizational growth</a:t>
            </a:r>
          </a:p>
          <a:p>
            <a:pPr marL="228600" indent="-228600">
              <a:lnSpc>
                <a:spcPct val="150000"/>
              </a:lnSpc>
              <a:buFont typeface="+mj-lt"/>
              <a:buAutoNum type="arabicPeriod" startAt="2"/>
            </a:pPr>
            <a:r>
              <a:rPr lang="en-US" sz="1400" b="1" dirty="0"/>
              <a:t>Example:</a:t>
            </a:r>
            <a:r>
              <a:rPr lang="en-US" sz="1400" dirty="0"/>
              <a:t> HR consultancies build comprehensive salary databases by scraping 100,000+ job postings monthly, providing clients with market-rate compensation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4364154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F7D1B2-222B-5C39-7415-360EFEF46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Freeform 6">
            <a:extLst>
              <a:ext uri="{FF2B5EF4-FFF2-40B4-BE49-F238E27FC236}">
                <a16:creationId xmlns:a16="http://schemas.microsoft.com/office/drawing/2014/main" id="{72411438-92A5-42B0-9C54-EA4FB32ACB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78801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 useBgFill="1">
        <p:nvSpPr>
          <p:cNvPr id="48" name="Rectangle 4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A06AF59-1DD7-6396-4913-F9DD9707C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42" y="3900942"/>
            <a:ext cx="3340354" cy="203365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i="1" kern="1200" spc="10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Industry Examples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5EF13EA1-F66C-4347-AEBF-A5438DF27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5"/>
            <a:ext cx="12191999" cy="34747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Magnifying glass showing decling performance">
            <a:extLst>
              <a:ext uri="{FF2B5EF4-FFF2-40B4-BE49-F238E27FC236}">
                <a16:creationId xmlns:a16="http://schemas.microsoft.com/office/drawing/2014/main" id="{A41200DD-D498-7F3F-2F08-6A89CC15DD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893" r="2" b="1587"/>
          <a:stretch>
            <a:fillRect/>
          </a:stretch>
        </p:blipFill>
        <p:spPr>
          <a:xfrm>
            <a:off x="6787725" y="298342"/>
            <a:ext cx="4105201" cy="2590110"/>
          </a:xfrm>
          <a:prstGeom prst="rect">
            <a:avLst/>
          </a:prstGeom>
        </p:spPr>
      </p:pic>
      <p:pic>
        <p:nvPicPr>
          <p:cNvPr id="3" name="Picture 2" descr="A hand holding a suitcase in an airport&#10;&#10;AI-generated content may be incorrect.">
            <a:extLst>
              <a:ext uri="{FF2B5EF4-FFF2-40B4-BE49-F238E27FC236}">
                <a16:creationId xmlns:a16="http://schemas.microsoft.com/office/drawing/2014/main" id="{396BFC23-0624-5070-FA8A-7C00934482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6871" r="2" b="15500"/>
          <a:stretch>
            <a:fillRect/>
          </a:stretch>
        </p:blipFill>
        <p:spPr>
          <a:xfrm>
            <a:off x="898206" y="298343"/>
            <a:ext cx="4998434" cy="2590109"/>
          </a:xfrm>
          <a:prstGeom prst="rect">
            <a:avLst/>
          </a:prstGeom>
        </p:spPr>
      </p:pic>
      <p:sp>
        <p:nvSpPr>
          <p:cNvPr id="5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2" y="1327770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bg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8859D69-C85A-F00E-A322-6544EE8890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39438" y="3474691"/>
            <a:ext cx="8052562" cy="3383310"/>
          </a:xfrm>
        </p:spPr>
        <p:txBody>
          <a:bodyPr vert="horz" lIns="91440" tIns="45720" rIns="91440" bIns="45720" rtlCol="0" anchor="ctr">
            <a:normAutofit fontScale="62500" lnSpcReduction="20000"/>
          </a:bodyPr>
          <a:lstStyle/>
          <a:p>
            <a:pPr indent="0">
              <a:lnSpc>
                <a:spcPct val="160000"/>
              </a:lnSpc>
              <a:buFont typeface="Arial" panose="020B0604020202020204" pitchFamily="34" charset="0"/>
              <a:buNone/>
            </a:pPr>
            <a:r>
              <a:rPr lang="en-US" sz="4700" b="1" dirty="0"/>
              <a:t>Travel &amp; Hospitality Intelligence</a:t>
            </a:r>
          </a:p>
          <a:p>
            <a:pPr indent="-228600">
              <a:lnSpc>
                <a:spcPct val="160000"/>
              </a:lnSpc>
              <a:buFont typeface="Arial" panose="020B0604020202020204" pitchFamily="34" charset="0"/>
              <a:buAutoNum type="arabicPeriod"/>
            </a:pPr>
            <a:r>
              <a:rPr lang="en-US" sz="2200" b="1" dirty="0"/>
              <a:t>Use Cases:</a:t>
            </a:r>
            <a:endParaRPr lang="en-US" sz="2200" dirty="0"/>
          </a:p>
          <a:p>
            <a:pPr>
              <a:lnSpc>
                <a:spcPct val="160000"/>
              </a:lnSpc>
            </a:pPr>
            <a:r>
              <a:rPr lang="en-US" sz="2200" b="1" dirty="0"/>
              <a:t>Dynamic Pricing Analysis</a:t>
            </a:r>
            <a:r>
              <a:rPr lang="en-US" sz="2200" dirty="0"/>
              <a:t>: Tracking hotel and flight prices across booking platforms</a:t>
            </a:r>
          </a:p>
          <a:p>
            <a:pPr>
              <a:lnSpc>
                <a:spcPct val="160000"/>
              </a:lnSpc>
            </a:pPr>
            <a:r>
              <a:rPr lang="en-US" sz="2200" b="1" dirty="0"/>
              <a:t>Occupancy Rate Estimation</a:t>
            </a:r>
            <a:r>
              <a:rPr lang="en-US" sz="2200" dirty="0"/>
              <a:t>: Monitoring availability patterns to estimate demand</a:t>
            </a:r>
          </a:p>
          <a:p>
            <a:pPr>
              <a:lnSpc>
                <a:spcPct val="160000"/>
              </a:lnSpc>
            </a:pPr>
            <a:r>
              <a:rPr lang="en-US" sz="2200" b="1" dirty="0"/>
              <a:t>Review Aggregation</a:t>
            </a:r>
            <a:r>
              <a:rPr lang="en-US" sz="2200" dirty="0"/>
              <a:t>: Collecting customer reviews from multiple travel platforms</a:t>
            </a:r>
          </a:p>
          <a:p>
            <a:pPr>
              <a:lnSpc>
                <a:spcPct val="160000"/>
              </a:lnSpc>
            </a:pPr>
            <a:r>
              <a:rPr lang="en-US" sz="2200" b="1" dirty="0"/>
              <a:t>Competitive Benchmarking</a:t>
            </a:r>
            <a:r>
              <a:rPr lang="en-US" sz="2200" dirty="0"/>
              <a:t>: Comparing amenities, pricing, and customer satisfaction metrics</a:t>
            </a:r>
          </a:p>
          <a:p>
            <a:pPr indent="-228600">
              <a:lnSpc>
                <a:spcPct val="160000"/>
              </a:lnSpc>
              <a:buFont typeface="Arial" panose="020B0604020202020204" pitchFamily="34" charset="0"/>
              <a:buAutoNum type="arabicPeriod" startAt="2"/>
            </a:pPr>
            <a:r>
              <a:rPr lang="en-US" sz="2200" b="1" dirty="0"/>
              <a:t>Example:</a:t>
            </a:r>
            <a:r>
              <a:rPr lang="en-US" sz="2200" dirty="0"/>
              <a:t> Hotel chains scrape competitor pricing data 24/7 to optimize their revenue management systems and adjust room rates dynamically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3461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9BDD68B-BFBC-4D7F-6BC2-3251827AC7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1" y="893935"/>
            <a:ext cx="7050881" cy="33393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dirty="0"/>
              <a:t>Technical Setup and Deep Dive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140408" y="4555071"/>
            <a:ext cx="704088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4145496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223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F1AAE4-D0BC-430F-A613-7BBAAECA0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228599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998026-FDEC-E9F6-E519-4DFE50585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2" y="379475"/>
            <a:ext cx="10671048" cy="1554480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Installation &amp; Setup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11FC692-FECD-D540-842D-4C86494154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825" y="2665474"/>
            <a:ext cx="10536883" cy="3872529"/>
          </a:xfrm>
        </p:spPr>
      </p:pic>
      <p:sp>
        <p:nvSpPr>
          <p:cNvPr id="12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557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EE0E7B8-B269-D77F-086D-FD1F474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65120" y="2840853"/>
            <a:ext cx="7604760" cy="26404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7200" dirty="0"/>
              <a:t>Core Selenium Concepts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E3FB7FD-3883-4AFF-8349-2E3BBDA7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865120" y="2519131"/>
            <a:ext cx="932688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6899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F813-9486-D2A5-9AA0-E1175FAEA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3678" y="619103"/>
            <a:ext cx="8904643" cy="1059090"/>
          </a:xfrm>
        </p:spPr>
        <p:txBody>
          <a:bodyPr>
            <a:noAutofit/>
          </a:bodyPr>
          <a:lstStyle/>
          <a:p>
            <a:r>
              <a:rPr lang="en-US" b="1" dirty="0"/>
              <a:t>1. WebDriver Initialization</a:t>
            </a:r>
            <a:br>
              <a:rPr lang="en-US" dirty="0"/>
            </a:br>
            <a:endParaRPr lang="en-US" dirty="0"/>
          </a:p>
        </p:txBody>
      </p:sp>
      <p:pic>
        <p:nvPicPr>
          <p:cNvPr id="7" name="Content Placeholder 6" descr="A black screen with green text&#10;&#10;AI-generated content may be incorrect.">
            <a:extLst>
              <a:ext uri="{FF2B5EF4-FFF2-40B4-BE49-F238E27FC236}">
                <a16:creationId xmlns:a16="http://schemas.microsoft.com/office/drawing/2014/main" id="{4B918D5F-A2C9-217E-8537-BF9375741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2468" y="2624866"/>
            <a:ext cx="11815280" cy="2364170"/>
          </a:xfrm>
        </p:spPr>
      </p:pic>
    </p:spTree>
    <p:extLst>
      <p:ext uri="{BB962C8B-B14F-4D97-AF65-F5344CB8AC3E}">
        <p14:creationId xmlns:p14="http://schemas.microsoft.com/office/powerpoint/2010/main" val="2815025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F40F-6875-75BD-8480-87EA2B77D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6028" y="394210"/>
            <a:ext cx="6799943" cy="972457"/>
          </a:xfrm>
        </p:spPr>
        <p:txBody>
          <a:bodyPr>
            <a:noAutofit/>
          </a:bodyPr>
          <a:lstStyle/>
          <a:p>
            <a:r>
              <a:rPr lang="en-US" b="1" dirty="0"/>
              <a:t>2. Finding Elements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DDECB630-DB1B-AEF4-FF1C-0269B6BBF0D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920" y="2408229"/>
            <a:ext cx="10860158" cy="2514879"/>
          </a:xfrm>
        </p:spPr>
      </p:pic>
    </p:spTree>
    <p:extLst>
      <p:ext uri="{BB962C8B-B14F-4D97-AF65-F5344CB8AC3E}">
        <p14:creationId xmlns:p14="http://schemas.microsoft.com/office/powerpoint/2010/main" val="3879600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0B25E-8E93-1018-7F86-AD6759A15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032" y="387190"/>
            <a:ext cx="10891580" cy="1059090"/>
          </a:xfrm>
        </p:spPr>
        <p:txBody>
          <a:bodyPr>
            <a:noAutofit/>
          </a:bodyPr>
          <a:lstStyle/>
          <a:p>
            <a:r>
              <a:rPr lang="en-US" b="1" dirty="0"/>
              <a:t>3. Waiting for Dynamic Content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 descr="A computer screen with colorful text&#10;&#10;AI-generated content may be incorrect.">
            <a:extLst>
              <a:ext uri="{FF2B5EF4-FFF2-40B4-BE49-F238E27FC236}">
                <a16:creationId xmlns:a16="http://schemas.microsoft.com/office/drawing/2014/main" id="{9B0F0843-4722-3571-2BE9-9493ECC138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216" y="2859314"/>
            <a:ext cx="11867568" cy="2322089"/>
          </a:xfrm>
        </p:spPr>
      </p:pic>
    </p:spTree>
    <p:extLst>
      <p:ext uri="{BB962C8B-B14F-4D97-AF65-F5344CB8AC3E}">
        <p14:creationId xmlns:p14="http://schemas.microsoft.com/office/powerpoint/2010/main" val="42014505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8F4EB-AC71-741E-631E-F31F1E274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9DCBCE-62F8-2489-F35B-358C52914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3133" y="2702128"/>
            <a:ext cx="7264301" cy="124314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8000" dirty="0"/>
              <a:t>Library Showcase</a:t>
            </a:r>
          </a:p>
        </p:txBody>
      </p:sp>
    </p:spTree>
    <p:extLst>
      <p:ext uri="{BB962C8B-B14F-4D97-AF65-F5344CB8AC3E}">
        <p14:creationId xmlns:p14="http://schemas.microsoft.com/office/powerpoint/2010/main" val="34802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Rectangle 50">
            <a:extLst>
              <a:ext uri="{FF2B5EF4-FFF2-40B4-BE49-F238E27FC236}">
                <a16:creationId xmlns:a16="http://schemas.microsoft.com/office/drawing/2014/main" id="{C5176844-69C3-4F79-BE38-EA5BDDF4F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BD574-FBD5-C4EB-CD03-008DBA1EC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8951" y="1043758"/>
            <a:ext cx="11655373" cy="819150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200" dirty="0"/>
              <a:t>Real World Example - F1 Data Scraping</a:t>
            </a:r>
            <a:br>
              <a:rPr lang="en-US" sz="3200" dirty="0"/>
            </a:br>
            <a:r>
              <a:rPr lang="en-US" sz="3200" dirty="0"/>
              <a:t>Target: Formula 1 Official Website (</a:t>
            </a:r>
            <a:r>
              <a:rPr lang="en-US" sz="3200" dirty="0">
                <a:solidFill>
                  <a:schemeClr val="tx2">
                    <a:lumMod val="75000"/>
                    <a:lumOff val="25000"/>
                  </a:schemeClr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https://www.formula1.com</a:t>
            </a:r>
            <a:r>
              <a:rPr lang="en-US" sz="3200" dirty="0"/>
              <a:t>)</a:t>
            </a:r>
            <a:br>
              <a:rPr lang="en-US" sz="3200" dirty="0"/>
            </a:br>
            <a:endParaRPr lang="en-US" sz="3200" dirty="0"/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4D5E13B1-3A31-47C7-8474-7A3DE6006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3888" y="1976039"/>
            <a:ext cx="105156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race car racing on a track&#10;&#10;AI-generated content may be incorrect.">
            <a:extLst>
              <a:ext uri="{FF2B5EF4-FFF2-40B4-BE49-F238E27FC236}">
                <a16:creationId xmlns:a16="http://schemas.microsoft.com/office/drawing/2014/main" id="{EE32A0BD-60D7-8311-8A83-243355A6F4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9265"/>
          <a:stretch>
            <a:fillRect/>
          </a:stretch>
        </p:blipFill>
        <p:spPr>
          <a:xfrm>
            <a:off x="20" y="2202302"/>
            <a:ext cx="7534635" cy="4670981"/>
          </a:xfrm>
          <a:prstGeom prst="rect">
            <a:avLst/>
          </a:prstGeom>
        </p:spPr>
      </p:pic>
      <p:sp>
        <p:nvSpPr>
          <p:cNvPr id="53" name="Content Placeholder 41">
            <a:extLst>
              <a:ext uri="{FF2B5EF4-FFF2-40B4-BE49-F238E27FC236}">
                <a16:creationId xmlns:a16="http://schemas.microsoft.com/office/drawing/2014/main" id="{C4AADF99-339E-4073-3944-E19D4BB27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2199" y="2202302"/>
            <a:ext cx="4295806" cy="4670981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1800" b="1" dirty="0"/>
              <a:t>Data Collection Goals:</a:t>
            </a:r>
            <a:endParaRPr lang="en-US" sz="1800" dirty="0"/>
          </a:p>
          <a:p>
            <a:r>
              <a:rPr lang="en-US" sz="1800" dirty="0"/>
              <a:t>Race results (winners, dates, circuits)</a:t>
            </a:r>
          </a:p>
          <a:p>
            <a:r>
              <a:rPr lang="en-US" sz="1800" dirty="0"/>
              <a:t>Driver championship standings</a:t>
            </a:r>
          </a:p>
          <a:p>
            <a:r>
              <a:rPr lang="en-US" sz="1800" dirty="0"/>
              <a:t>Constructor (team) standings</a:t>
            </a:r>
          </a:p>
          <a:p>
            <a:r>
              <a:rPr lang="en-US" sz="1800" dirty="0"/>
              <a:t>Multi-season analysis (2023 vs 2024)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1800" b="1" dirty="0"/>
              <a:t>Why This Example?</a:t>
            </a:r>
            <a:endParaRPr lang="en-US" sz="1800" dirty="0"/>
          </a:p>
          <a:p>
            <a:r>
              <a:rPr lang="en-US" sz="1800" dirty="0"/>
              <a:t>Dynamic JavaScript-loaded content</a:t>
            </a:r>
          </a:p>
          <a:p>
            <a:r>
              <a:rPr lang="en-US" sz="1800" dirty="0"/>
              <a:t>Demonstrates waiting strategies</a:t>
            </a:r>
          </a:p>
          <a:p>
            <a:r>
              <a:rPr lang="en-US" sz="1800" dirty="0"/>
              <a:t>Real tables requiring parsing</a:t>
            </a:r>
          </a:p>
          <a:p>
            <a:r>
              <a:rPr lang="en-US" sz="1800" dirty="0"/>
              <a:t>Multi-page navigation</a:t>
            </a:r>
          </a:p>
          <a:p>
            <a:r>
              <a:rPr lang="en-US" sz="1800" dirty="0"/>
              <a:t>Practical sports analytics use case</a:t>
            </a:r>
          </a:p>
          <a:p>
            <a:endParaRPr lang="en-US" sz="1800" dirty="0"/>
          </a:p>
        </p:txBody>
      </p:sp>
      <p:sp>
        <p:nvSpPr>
          <p:cNvPr id="54" name="Freeform 6">
            <a:extLst>
              <a:ext uri="{FF2B5EF4-FFF2-40B4-BE49-F238E27FC236}">
                <a16:creationId xmlns:a16="http://schemas.microsoft.com/office/drawing/2014/main" id="{A101E513-AF74-4E9D-A31F-996642507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47753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BF0FC785-6031-1183-4779-43EB5B72F1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8793" y="43805"/>
            <a:ext cx="9354414" cy="6770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099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5BECA6-D685-CF89-9C6C-87D24923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8914" y="893935"/>
            <a:ext cx="5364937" cy="333939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b="1" i="1" kern="1200" spc="1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Code Walkthrough </a:t>
            </a:r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AD3D935-ECFC-4862-B395-207C13BAC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215066" cy="6858000"/>
          </a:xfrm>
          <a:custGeom>
            <a:avLst/>
            <a:gdLst>
              <a:gd name="connsiteX0" fmla="*/ 0 w 5215066"/>
              <a:gd name="connsiteY0" fmla="*/ 0 h 6858000"/>
              <a:gd name="connsiteX1" fmla="*/ 3197713 w 5215066"/>
              <a:gd name="connsiteY1" fmla="*/ 0 h 6858000"/>
              <a:gd name="connsiteX2" fmla="*/ 3259787 w 5215066"/>
              <a:gd name="connsiteY2" fmla="*/ 39865 h 6858000"/>
              <a:gd name="connsiteX3" fmla="*/ 5215066 w 5215066"/>
              <a:gd name="connsiteY3" fmla="*/ 3723759 h 6858000"/>
              <a:gd name="connsiteX4" fmla="*/ 4202364 w 5215066"/>
              <a:gd name="connsiteY4" fmla="*/ 6549681 h 6858000"/>
              <a:gd name="connsiteX5" fmla="*/ 3922635 w 5215066"/>
              <a:gd name="connsiteY5" fmla="*/ 6858000 h 6858000"/>
              <a:gd name="connsiteX6" fmla="*/ 0 w 521506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215066" h="6858000">
                <a:moveTo>
                  <a:pt x="0" y="0"/>
                </a:moveTo>
                <a:lnTo>
                  <a:pt x="3197713" y="0"/>
                </a:lnTo>
                <a:lnTo>
                  <a:pt x="3259787" y="39865"/>
                </a:lnTo>
                <a:cubicBezTo>
                  <a:pt x="4439462" y="838237"/>
                  <a:pt x="5215066" y="2190263"/>
                  <a:pt x="5215066" y="3723759"/>
                </a:cubicBezTo>
                <a:cubicBezTo>
                  <a:pt x="5215066" y="4797206"/>
                  <a:pt x="4835020" y="5781733"/>
                  <a:pt x="4202364" y="6549681"/>
                </a:cubicBezTo>
                <a:lnTo>
                  <a:pt x="392263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50000"/>
              <a:alpha val="1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6" name="Graphic 5" descr="Checkmark">
            <a:extLst>
              <a:ext uri="{FF2B5EF4-FFF2-40B4-BE49-F238E27FC236}">
                <a16:creationId xmlns:a16="http://schemas.microsoft.com/office/drawing/2014/main" id="{61AD5A5C-2BBD-79BC-7A7D-57D9F997C0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8401" y="1793908"/>
            <a:ext cx="3491811" cy="3491811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3B95BE3-D5B2-4F38-9A01-17866C9FBA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6040331" y="4555071"/>
            <a:ext cx="530352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Freeform 6">
            <a:extLst>
              <a:ext uri="{FF2B5EF4-FFF2-40B4-BE49-F238E27FC236}">
                <a16:creationId xmlns:a16="http://schemas.microsoft.com/office/drawing/2014/main" id="{ADA271CD-3011-4A05-B4A3-80F1794684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8152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7149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9A7114-4B92-8BC2-86C7-60E72454B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9759" y="118334"/>
            <a:ext cx="4970663" cy="1011791"/>
          </a:xfrm>
        </p:spPr>
        <p:txBody>
          <a:bodyPr>
            <a:normAutofit fontScale="90000"/>
          </a:bodyPr>
          <a:lstStyle/>
          <a:p>
            <a:r>
              <a:rPr lang="en-US" sz="6600" b="1" dirty="0"/>
              <a:t>Display Result </a:t>
            </a:r>
          </a:p>
        </p:txBody>
      </p:sp>
      <p:pic>
        <p:nvPicPr>
          <p:cNvPr id="5" name="Content Placeholder 4" descr="A group of graphs with different colored lines&#10;&#10;AI-generated content may be incorrect.">
            <a:extLst>
              <a:ext uri="{FF2B5EF4-FFF2-40B4-BE49-F238E27FC236}">
                <a16:creationId xmlns:a16="http://schemas.microsoft.com/office/drawing/2014/main" id="{F97FB377-AFCE-D2BE-EAC2-F9D90FBE3B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1038" y="1130125"/>
            <a:ext cx="9629923" cy="5741523"/>
          </a:xfrm>
        </p:spPr>
      </p:pic>
    </p:spTree>
    <p:extLst>
      <p:ext uri="{BB962C8B-B14F-4D97-AF65-F5344CB8AC3E}">
        <p14:creationId xmlns:p14="http://schemas.microsoft.com/office/powerpoint/2010/main" val="41540078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8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DD4C4B28-6B4B-4445-8535-F516D74E4A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CB1C732-7193-4253-8746-850D090A6B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8952" y="1280160"/>
            <a:ext cx="0" cy="557784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55B419A7-F817-4767-8CCB-FB0E189C4A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76BC1-0CAA-DF8B-F3AD-A94AC3FB5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2016" y="788533"/>
            <a:ext cx="9267968" cy="273268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8800" dirty="0"/>
              <a:t>Thank you !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3FB7FD-3883-4AFF-8349-2E3BBDA71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2209800" y="3842963"/>
            <a:ext cx="7772400" cy="0"/>
          </a:xfrm>
          <a:prstGeom prst="line">
            <a:avLst/>
          </a:prstGeom>
          <a:ln w="19050">
            <a:solidFill>
              <a:schemeClr val="tx1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 6">
            <a:extLst>
              <a:ext uri="{FF2B5EF4-FFF2-40B4-BE49-F238E27FC236}">
                <a16:creationId xmlns:a16="http://schemas.microsoft.com/office/drawing/2014/main" id="{B3BE00DD-5F52-49B1-A83B-F2E555AC5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1784011" y="5783564"/>
            <a:ext cx="407988" cy="819150"/>
          </a:xfrm>
          <a:custGeom>
            <a:avLst/>
            <a:gdLst/>
            <a:ahLst/>
            <a:cxnLst/>
            <a:rect l="0" t="0" r="r" b="b"/>
            <a:pathLst>
              <a:path w="1799" h="3612">
                <a:moveTo>
                  <a:pt x="1799" y="0"/>
                </a:moveTo>
                <a:lnTo>
                  <a:pt x="1799" y="3612"/>
                </a:lnTo>
                <a:lnTo>
                  <a:pt x="1686" y="3609"/>
                </a:lnTo>
                <a:lnTo>
                  <a:pt x="1574" y="3598"/>
                </a:lnTo>
                <a:lnTo>
                  <a:pt x="1464" y="3581"/>
                </a:lnTo>
                <a:lnTo>
                  <a:pt x="1357" y="3557"/>
                </a:lnTo>
                <a:lnTo>
                  <a:pt x="1251" y="3527"/>
                </a:lnTo>
                <a:lnTo>
                  <a:pt x="1150" y="3490"/>
                </a:lnTo>
                <a:lnTo>
                  <a:pt x="1050" y="3448"/>
                </a:lnTo>
                <a:lnTo>
                  <a:pt x="953" y="3401"/>
                </a:lnTo>
                <a:lnTo>
                  <a:pt x="860" y="3347"/>
                </a:lnTo>
                <a:lnTo>
                  <a:pt x="771" y="3289"/>
                </a:lnTo>
                <a:lnTo>
                  <a:pt x="686" y="3224"/>
                </a:lnTo>
                <a:lnTo>
                  <a:pt x="604" y="3156"/>
                </a:lnTo>
                <a:lnTo>
                  <a:pt x="527" y="3083"/>
                </a:lnTo>
                <a:lnTo>
                  <a:pt x="454" y="3005"/>
                </a:lnTo>
                <a:lnTo>
                  <a:pt x="386" y="2923"/>
                </a:lnTo>
                <a:lnTo>
                  <a:pt x="323" y="2838"/>
                </a:lnTo>
                <a:lnTo>
                  <a:pt x="265" y="2748"/>
                </a:lnTo>
                <a:lnTo>
                  <a:pt x="211" y="2655"/>
                </a:lnTo>
                <a:lnTo>
                  <a:pt x="163" y="2559"/>
                </a:lnTo>
                <a:lnTo>
                  <a:pt x="121" y="2459"/>
                </a:lnTo>
                <a:lnTo>
                  <a:pt x="85" y="2356"/>
                </a:lnTo>
                <a:lnTo>
                  <a:pt x="55" y="2251"/>
                </a:lnTo>
                <a:lnTo>
                  <a:pt x="32" y="2143"/>
                </a:lnTo>
                <a:lnTo>
                  <a:pt x="14" y="2033"/>
                </a:lnTo>
                <a:lnTo>
                  <a:pt x="4" y="1920"/>
                </a:lnTo>
                <a:lnTo>
                  <a:pt x="0" y="1806"/>
                </a:lnTo>
                <a:lnTo>
                  <a:pt x="4" y="1692"/>
                </a:lnTo>
                <a:lnTo>
                  <a:pt x="14" y="1580"/>
                </a:lnTo>
                <a:lnTo>
                  <a:pt x="32" y="1469"/>
                </a:lnTo>
                <a:lnTo>
                  <a:pt x="55" y="1362"/>
                </a:lnTo>
                <a:lnTo>
                  <a:pt x="85" y="1256"/>
                </a:lnTo>
                <a:lnTo>
                  <a:pt x="121" y="1154"/>
                </a:lnTo>
                <a:lnTo>
                  <a:pt x="163" y="1054"/>
                </a:lnTo>
                <a:lnTo>
                  <a:pt x="211" y="958"/>
                </a:lnTo>
                <a:lnTo>
                  <a:pt x="265" y="864"/>
                </a:lnTo>
                <a:lnTo>
                  <a:pt x="323" y="774"/>
                </a:lnTo>
                <a:lnTo>
                  <a:pt x="386" y="689"/>
                </a:lnTo>
                <a:lnTo>
                  <a:pt x="454" y="607"/>
                </a:lnTo>
                <a:lnTo>
                  <a:pt x="527" y="529"/>
                </a:lnTo>
                <a:lnTo>
                  <a:pt x="604" y="456"/>
                </a:lnTo>
                <a:lnTo>
                  <a:pt x="686" y="388"/>
                </a:lnTo>
                <a:lnTo>
                  <a:pt x="771" y="325"/>
                </a:lnTo>
                <a:lnTo>
                  <a:pt x="860" y="266"/>
                </a:lnTo>
                <a:lnTo>
                  <a:pt x="953" y="212"/>
                </a:lnTo>
                <a:lnTo>
                  <a:pt x="1050" y="164"/>
                </a:lnTo>
                <a:lnTo>
                  <a:pt x="1150" y="122"/>
                </a:lnTo>
                <a:lnTo>
                  <a:pt x="1251" y="85"/>
                </a:lnTo>
                <a:lnTo>
                  <a:pt x="1357" y="55"/>
                </a:lnTo>
                <a:lnTo>
                  <a:pt x="1464" y="32"/>
                </a:lnTo>
                <a:lnTo>
                  <a:pt x="1574" y="14"/>
                </a:lnTo>
                <a:lnTo>
                  <a:pt x="1686" y="5"/>
                </a:lnTo>
                <a:lnTo>
                  <a:pt x="1799" y="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0">
            <a:noFill/>
            <a:prstDash val="solid"/>
            <a:round/>
            <a:headEnd/>
            <a:tailEnd/>
          </a:ln>
        </p:spPr>
        <p:txBody>
          <a:bodyPr anchor="ctr"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FCF8DD-7144-5A04-8E8C-F2B4918923F7}"/>
              </a:ext>
            </a:extLst>
          </p:cNvPr>
          <p:cNvSpPr txBox="1"/>
          <p:nvPr/>
        </p:nvSpPr>
        <p:spPr>
          <a:xfrm>
            <a:off x="4623185" y="4048143"/>
            <a:ext cx="29456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Any Questions ? </a:t>
            </a:r>
          </a:p>
        </p:txBody>
      </p:sp>
    </p:spTree>
    <p:extLst>
      <p:ext uri="{BB962C8B-B14F-4D97-AF65-F5344CB8AC3E}">
        <p14:creationId xmlns:p14="http://schemas.microsoft.com/office/powerpoint/2010/main" val="114344525"/>
      </p:ext>
    </p:extLst>
  </p:cSld>
  <p:clrMapOvr>
    <a:masterClrMapping/>
  </p:clrMapOvr>
</p:sld>
</file>

<file path=ppt/theme/theme1.xml><?xml version="1.0" encoding="utf-8"?>
<a:theme xmlns:a="http://schemas.openxmlformats.org/drawingml/2006/main" name="HeadlinesVTI">
  <a:themeElements>
    <a:clrScheme name="Headlines">
      <a:dk1>
        <a:sysClr val="windowText" lastClr="000000"/>
      </a:dk1>
      <a:lt1>
        <a:sysClr val="window" lastClr="FFFFFF"/>
      </a:lt1>
      <a:dk2>
        <a:srgbClr val="232C41"/>
      </a:dk2>
      <a:lt2>
        <a:srgbClr val="F6F4EF"/>
      </a:lt2>
      <a:accent1>
        <a:srgbClr val="439EB7"/>
      </a:accent1>
      <a:accent2>
        <a:srgbClr val="E20E65"/>
      </a:accent2>
      <a:accent3>
        <a:srgbClr val="F59324"/>
      </a:accent3>
      <a:accent4>
        <a:srgbClr val="5046B9"/>
      </a:accent4>
      <a:accent5>
        <a:srgbClr val="5CB678"/>
      </a:accent5>
      <a:accent6>
        <a:srgbClr val="9717F7"/>
      </a:accent6>
      <a:hlink>
        <a:srgbClr val="E80095"/>
      </a:hlink>
      <a:folHlink>
        <a:srgbClr val="808080"/>
      </a:folHlink>
    </a:clrScheme>
    <a:fontScheme name="Custom 211">
      <a:majorFont>
        <a:latin typeface="Sitka Banner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8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6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dlinesVTI" id="{66EB4A02-0C0F-47F1-9F48-4E6882B9F967}" vid="{F3552358-4452-4FDA-9568-4F5DA32F7A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2648</TotalTime>
  <Words>384</Words>
  <Application>Microsoft Macintosh PowerPoint</Application>
  <PresentationFormat>Widescreen</PresentationFormat>
  <Paragraphs>60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Aptos</vt:lpstr>
      <vt:lpstr>Arial</vt:lpstr>
      <vt:lpstr>Avenir Next LT Pro</vt:lpstr>
      <vt:lpstr>Poppins Light</vt:lpstr>
      <vt:lpstr>Sitka Banner</vt:lpstr>
      <vt:lpstr>HeadlinesVTI</vt:lpstr>
      <vt:lpstr>Selenium Library for Data Science </vt:lpstr>
      <vt:lpstr>Table of Content </vt:lpstr>
      <vt:lpstr>What is Selenium?</vt:lpstr>
      <vt:lpstr>Industry Examples</vt:lpstr>
      <vt:lpstr>Industry Examples</vt:lpstr>
      <vt:lpstr>Technical Setup and Deep Dive</vt:lpstr>
      <vt:lpstr>Installation &amp; Setup</vt:lpstr>
      <vt:lpstr>Core Selenium Concepts</vt:lpstr>
      <vt:lpstr>1. WebDriver Initialization </vt:lpstr>
      <vt:lpstr>2. Finding Elements </vt:lpstr>
      <vt:lpstr>3. Waiting for Dynamic Content </vt:lpstr>
      <vt:lpstr>Library Showcase</vt:lpstr>
      <vt:lpstr>Real World Example - F1 Data Scraping Target: Formula 1 Official Website (https://www.formula1.com) </vt:lpstr>
      <vt:lpstr>PowerPoint Presentation</vt:lpstr>
      <vt:lpstr>Code Walkthrough </vt:lpstr>
      <vt:lpstr>Display Result </vt:lpstr>
      <vt:lpstr>Thank you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Minh Phan (He/Him)</dc:creator>
  <cp:lastModifiedBy>Minh Phan (He/Him)</cp:lastModifiedBy>
  <cp:revision>2</cp:revision>
  <dcterms:created xsi:type="dcterms:W3CDTF">2025-10-31T20:21:14Z</dcterms:created>
  <dcterms:modified xsi:type="dcterms:W3CDTF">2025-11-02T16:29:40Z</dcterms:modified>
</cp:coreProperties>
</file>