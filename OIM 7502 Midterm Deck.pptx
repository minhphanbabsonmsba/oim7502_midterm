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21"/>
  </p:notesMasterIdLst>
  <p:sldIdLst>
    <p:sldId id="256" r:id="rId2"/>
    <p:sldId id="274" r:id="rId3"/>
    <p:sldId id="257" r:id="rId4"/>
    <p:sldId id="270" r:id="rId5"/>
    <p:sldId id="273" r:id="rId6"/>
    <p:sldId id="280" r:id="rId7"/>
    <p:sldId id="275" r:id="rId8"/>
    <p:sldId id="260" r:id="rId9"/>
    <p:sldId id="261" r:id="rId10"/>
    <p:sldId id="259" r:id="rId11"/>
    <p:sldId id="262" r:id="rId12"/>
    <p:sldId id="263" r:id="rId13"/>
    <p:sldId id="279" r:id="rId14"/>
    <p:sldId id="276" r:id="rId15"/>
    <p:sldId id="266" r:id="rId16"/>
    <p:sldId id="265" r:id="rId17"/>
    <p:sldId id="268" r:id="rId18"/>
    <p:sldId id="267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56852-F42E-3044-B20E-94A66C1C216B}" v="67" dt="2025-11-02T20:15:4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82"/>
  </p:normalViewPr>
  <p:slideViewPr>
    <p:cSldViewPr snapToGrid="0">
      <p:cViewPr>
        <p:scale>
          <a:sx n="149" d="100"/>
          <a:sy n="149" d="100"/>
        </p:scale>
        <p:origin x="-2136" y="-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120C4D-DD5B-405B-A483-44DEA9CD1EE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28C2E14-516E-4DB0-B145-4C4ECECB70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What is Selenium ? </a:t>
          </a:r>
        </a:p>
      </dgm:t>
    </dgm:pt>
    <dgm:pt modelId="{7BC84816-4A16-4C66-BAA8-F1AFF0B78334}" type="parTrans" cxnId="{6EC88E34-1147-418B-B998-2F07ABC969D7}">
      <dgm:prSet/>
      <dgm:spPr/>
      <dgm:t>
        <a:bodyPr/>
        <a:lstStyle/>
        <a:p>
          <a:endParaRPr lang="en-US"/>
        </a:p>
      </dgm:t>
    </dgm:pt>
    <dgm:pt modelId="{E7B42A94-1C43-483D-BBE5-C0731C9D776E}" type="sibTrans" cxnId="{6EC88E34-1147-418B-B998-2F07ABC969D7}">
      <dgm:prSet/>
      <dgm:spPr/>
      <dgm:t>
        <a:bodyPr/>
        <a:lstStyle/>
        <a:p>
          <a:endParaRPr lang="en-US"/>
        </a:p>
      </dgm:t>
    </dgm:pt>
    <dgm:pt modelId="{D81BFA2C-D64C-4E02-9CEB-511606AD4C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Industry Examples</a:t>
          </a:r>
        </a:p>
      </dgm:t>
    </dgm:pt>
    <dgm:pt modelId="{42599D68-22F9-4B9A-B87C-336B5A2D9360}" type="parTrans" cxnId="{8673536E-DC9C-4F9F-87B0-85F39E82A3F6}">
      <dgm:prSet/>
      <dgm:spPr/>
      <dgm:t>
        <a:bodyPr/>
        <a:lstStyle/>
        <a:p>
          <a:endParaRPr lang="en-US"/>
        </a:p>
      </dgm:t>
    </dgm:pt>
    <dgm:pt modelId="{B9E6C637-834D-44AF-8314-BF35D4E46D6B}" type="sibTrans" cxnId="{8673536E-DC9C-4F9F-87B0-85F39E82A3F6}">
      <dgm:prSet/>
      <dgm:spPr/>
      <dgm:t>
        <a:bodyPr/>
        <a:lstStyle/>
        <a:p>
          <a:endParaRPr lang="en-US"/>
        </a:p>
      </dgm:t>
    </dgm:pt>
    <dgm:pt modelId="{6350F186-A36A-4AE1-B9E9-6FCD77436D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Technical Setup and Deep Dive</a:t>
          </a:r>
        </a:p>
      </dgm:t>
    </dgm:pt>
    <dgm:pt modelId="{EA031DD2-0942-4FC1-A74E-57D4B173FE93}" type="parTrans" cxnId="{816585F8-ACB1-4832-BA7D-1A51946BD253}">
      <dgm:prSet/>
      <dgm:spPr/>
      <dgm:t>
        <a:bodyPr/>
        <a:lstStyle/>
        <a:p>
          <a:endParaRPr lang="en-US"/>
        </a:p>
      </dgm:t>
    </dgm:pt>
    <dgm:pt modelId="{F58450AE-1F2A-46DB-9FD9-1A9EE03D1EE2}" type="sibTrans" cxnId="{816585F8-ACB1-4832-BA7D-1A51946BD253}">
      <dgm:prSet/>
      <dgm:spPr/>
      <dgm:t>
        <a:bodyPr/>
        <a:lstStyle/>
        <a:p>
          <a:endParaRPr lang="en-US"/>
        </a:p>
      </dgm:t>
    </dgm:pt>
    <dgm:pt modelId="{056F458C-D92D-49C0-993E-54825C8E8D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Library showcase </a:t>
          </a:r>
        </a:p>
      </dgm:t>
    </dgm:pt>
    <dgm:pt modelId="{FDBC34CA-9B1B-464F-AA1A-444510B9A355}" type="parTrans" cxnId="{22F61FDC-0361-415A-983A-553846A25F7C}">
      <dgm:prSet/>
      <dgm:spPr/>
      <dgm:t>
        <a:bodyPr/>
        <a:lstStyle/>
        <a:p>
          <a:endParaRPr lang="en-US"/>
        </a:p>
      </dgm:t>
    </dgm:pt>
    <dgm:pt modelId="{A03E3B15-AAE2-4122-BAB5-57DF15744C03}" type="sibTrans" cxnId="{22F61FDC-0361-415A-983A-553846A25F7C}">
      <dgm:prSet/>
      <dgm:spPr/>
      <dgm:t>
        <a:bodyPr/>
        <a:lstStyle/>
        <a:p>
          <a:endParaRPr lang="en-US"/>
        </a:p>
      </dgm:t>
    </dgm:pt>
    <dgm:pt modelId="{B3D66858-E7B0-49E3-A8A2-26A57899504A}" type="pres">
      <dgm:prSet presAssocID="{0D120C4D-DD5B-405B-A483-44DEA9CD1EE4}" presName="root" presStyleCnt="0">
        <dgm:presLayoutVars>
          <dgm:dir/>
          <dgm:resizeHandles val="exact"/>
        </dgm:presLayoutVars>
      </dgm:prSet>
      <dgm:spPr/>
    </dgm:pt>
    <dgm:pt modelId="{DFE5AE7D-A4C7-430F-B015-F2489C2526D9}" type="pres">
      <dgm:prSet presAssocID="{C28C2E14-516E-4DB0-B145-4C4ECECB7086}" presName="compNode" presStyleCnt="0"/>
      <dgm:spPr/>
    </dgm:pt>
    <dgm:pt modelId="{61B2DCBC-97BA-402F-B49B-1E55AB5F1161}" type="pres">
      <dgm:prSet presAssocID="{C28C2E14-516E-4DB0-B145-4C4ECECB7086}" presName="bgRect" presStyleLbl="bgShp" presStyleIdx="0" presStyleCnt="4"/>
      <dgm:spPr/>
    </dgm:pt>
    <dgm:pt modelId="{67B6A446-57DD-4921-8CD9-5FB001AC5CEA}" type="pres">
      <dgm:prSet presAssocID="{C28C2E14-516E-4DB0-B145-4C4ECECB708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8A697D86-7E8C-4F1B-A922-B491D7A27749}" type="pres">
      <dgm:prSet presAssocID="{C28C2E14-516E-4DB0-B145-4C4ECECB7086}" presName="spaceRect" presStyleCnt="0"/>
      <dgm:spPr/>
    </dgm:pt>
    <dgm:pt modelId="{9F32DE84-3FEB-4FDB-95D0-1C35E4272FF2}" type="pres">
      <dgm:prSet presAssocID="{C28C2E14-516E-4DB0-B145-4C4ECECB7086}" presName="parTx" presStyleLbl="revTx" presStyleIdx="0" presStyleCnt="4">
        <dgm:presLayoutVars>
          <dgm:chMax val="0"/>
          <dgm:chPref val="0"/>
        </dgm:presLayoutVars>
      </dgm:prSet>
      <dgm:spPr/>
    </dgm:pt>
    <dgm:pt modelId="{8D189DD2-6250-4807-A020-6A5BE58939BE}" type="pres">
      <dgm:prSet presAssocID="{E7B42A94-1C43-483D-BBE5-C0731C9D776E}" presName="sibTrans" presStyleCnt="0"/>
      <dgm:spPr/>
    </dgm:pt>
    <dgm:pt modelId="{EEB312A4-F035-48F0-B4A9-BDD1D88F96D9}" type="pres">
      <dgm:prSet presAssocID="{D81BFA2C-D64C-4E02-9CEB-511606AD4C3B}" presName="compNode" presStyleCnt="0"/>
      <dgm:spPr/>
    </dgm:pt>
    <dgm:pt modelId="{25714331-85A2-4321-B317-710AF815CAD0}" type="pres">
      <dgm:prSet presAssocID="{D81BFA2C-D64C-4E02-9CEB-511606AD4C3B}" presName="bgRect" presStyleLbl="bgShp" presStyleIdx="1" presStyleCnt="4"/>
      <dgm:spPr>
        <a:ln>
          <a:noFill/>
        </a:ln>
      </dgm:spPr>
    </dgm:pt>
    <dgm:pt modelId="{1CB1B9C8-FB44-4EA1-B00B-A1CC1C80D3CD}" type="pres">
      <dgm:prSet presAssocID="{D81BFA2C-D64C-4E02-9CEB-511606AD4C3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39AC203A-2A33-4008-8676-FEF38FE434EE}" type="pres">
      <dgm:prSet presAssocID="{D81BFA2C-D64C-4E02-9CEB-511606AD4C3B}" presName="spaceRect" presStyleCnt="0"/>
      <dgm:spPr/>
    </dgm:pt>
    <dgm:pt modelId="{FAFF37CD-182E-476D-B28D-18D205E55298}" type="pres">
      <dgm:prSet presAssocID="{D81BFA2C-D64C-4E02-9CEB-511606AD4C3B}" presName="parTx" presStyleLbl="revTx" presStyleIdx="1" presStyleCnt="4">
        <dgm:presLayoutVars>
          <dgm:chMax val="0"/>
          <dgm:chPref val="0"/>
        </dgm:presLayoutVars>
      </dgm:prSet>
      <dgm:spPr/>
    </dgm:pt>
    <dgm:pt modelId="{3216AFE9-D851-4BBF-A5CF-0D6B4AD4AA35}" type="pres">
      <dgm:prSet presAssocID="{B9E6C637-834D-44AF-8314-BF35D4E46D6B}" presName="sibTrans" presStyleCnt="0"/>
      <dgm:spPr/>
    </dgm:pt>
    <dgm:pt modelId="{B9AADB0F-51D9-42F1-B02F-9BF4C05E6CA1}" type="pres">
      <dgm:prSet presAssocID="{6350F186-A36A-4AE1-B9E9-6FCD77436D2D}" presName="compNode" presStyleCnt="0"/>
      <dgm:spPr/>
    </dgm:pt>
    <dgm:pt modelId="{944985AE-3535-4AA9-B6D6-E2E4156A27C5}" type="pres">
      <dgm:prSet presAssocID="{6350F186-A36A-4AE1-B9E9-6FCD77436D2D}" presName="bgRect" presStyleLbl="bgShp" presStyleIdx="2" presStyleCnt="4"/>
      <dgm:spPr/>
    </dgm:pt>
    <dgm:pt modelId="{144DFC12-804C-40CF-A40B-592FFBC39403}" type="pres">
      <dgm:prSet presAssocID="{6350F186-A36A-4AE1-B9E9-6FCD77436D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DAB0C6CC-0D5E-41D4-9A07-13E35D17EDDF}" type="pres">
      <dgm:prSet presAssocID="{6350F186-A36A-4AE1-B9E9-6FCD77436D2D}" presName="spaceRect" presStyleCnt="0"/>
      <dgm:spPr/>
    </dgm:pt>
    <dgm:pt modelId="{D5361861-10F7-4CA5-A889-0AD17A8FDFC8}" type="pres">
      <dgm:prSet presAssocID="{6350F186-A36A-4AE1-B9E9-6FCD77436D2D}" presName="parTx" presStyleLbl="revTx" presStyleIdx="2" presStyleCnt="4">
        <dgm:presLayoutVars>
          <dgm:chMax val="0"/>
          <dgm:chPref val="0"/>
        </dgm:presLayoutVars>
      </dgm:prSet>
      <dgm:spPr/>
    </dgm:pt>
    <dgm:pt modelId="{07E853C0-9A1A-4112-AC4D-2013B9AB456E}" type="pres">
      <dgm:prSet presAssocID="{F58450AE-1F2A-46DB-9FD9-1A9EE03D1EE2}" presName="sibTrans" presStyleCnt="0"/>
      <dgm:spPr/>
    </dgm:pt>
    <dgm:pt modelId="{0E66EB13-2BB2-42E1-8891-C345CAAEB374}" type="pres">
      <dgm:prSet presAssocID="{056F458C-D92D-49C0-993E-54825C8E8D84}" presName="compNode" presStyleCnt="0"/>
      <dgm:spPr/>
    </dgm:pt>
    <dgm:pt modelId="{3E853DB7-8207-4CC5-9CA2-29FFD8DE903F}" type="pres">
      <dgm:prSet presAssocID="{056F458C-D92D-49C0-993E-54825C8E8D84}" presName="bgRect" presStyleLbl="bgShp" presStyleIdx="3" presStyleCnt="4" custLinFactNeighborX="-5954"/>
      <dgm:spPr/>
    </dgm:pt>
    <dgm:pt modelId="{08920C32-07E9-490D-8A18-DB63985D17B3}" type="pres">
      <dgm:prSet presAssocID="{056F458C-D92D-49C0-993E-54825C8E8D8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03F729D-51D8-41EE-B2A4-0881B88BD979}" type="pres">
      <dgm:prSet presAssocID="{056F458C-D92D-49C0-993E-54825C8E8D84}" presName="spaceRect" presStyleCnt="0"/>
      <dgm:spPr/>
    </dgm:pt>
    <dgm:pt modelId="{79AFA201-B753-46A5-BEF1-34BBE2ACC1C3}" type="pres">
      <dgm:prSet presAssocID="{056F458C-D92D-49C0-993E-54825C8E8D8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EC88E34-1147-418B-B998-2F07ABC969D7}" srcId="{0D120C4D-DD5B-405B-A483-44DEA9CD1EE4}" destId="{C28C2E14-516E-4DB0-B145-4C4ECECB7086}" srcOrd="0" destOrd="0" parTransId="{7BC84816-4A16-4C66-BAA8-F1AFF0B78334}" sibTransId="{E7B42A94-1C43-483D-BBE5-C0731C9D776E}"/>
    <dgm:cxn modelId="{E4AEF348-9816-44A3-96BD-F1137276480E}" type="presOf" srcId="{0D120C4D-DD5B-405B-A483-44DEA9CD1EE4}" destId="{B3D66858-E7B0-49E3-A8A2-26A57899504A}" srcOrd="0" destOrd="0" presId="urn:microsoft.com/office/officeart/2018/2/layout/IconVerticalSolidList"/>
    <dgm:cxn modelId="{8673536E-DC9C-4F9F-87B0-85F39E82A3F6}" srcId="{0D120C4D-DD5B-405B-A483-44DEA9CD1EE4}" destId="{D81BFA2C-D64C-4E02-9CEB-511606AD4C3B}" srcOrd="1" destOrd="0" parTransId="{42599D68-22F9-4B9A-B87C-336B5A2D9360}" sibTransId="{B9E6C637-834D-44AF-8314-BF35D4E46D6B}"/>
    <dgm:cxn modelId="{CC48B5A2-EE9B-471D-AB0B-6C59BB534CED}" type="presOf" srcId="{6350F186-A36A-4AE1-B9E9-6FCD77436D2D}" destId="{D5361861-10F7-4CA5-A889-0AD17A8FDFC8}" srcOrd="0" destOrd="0" presId="urn:microsoft.com/office/officeart/2018/2/layout/IconVerticalSolidList"/>
    <dgm:cxn modelId="{C8FE17B2-B5E0-41EA-95B7-68B03B1A05DF}" type="presOf" srcId="{056F458C-D92D-49C0-993E-54825C8E8D84}" destId="{79AFA201-B753-46A5-BEF1-34BBE2ACC1C3}" srcOrd="0" destOrd="0" presId="urn:microsoft.com/office/officeart/2018/2/layout/IconVerticalSolidList"/>
    <dgm:cxn modelId="{753614CB-790E-46E5-9524-A1473D05B7BB}" type="presOf" srcId="{D81BFA2C-D64C-4E02-9CEB-511606AD4C3B}" destId="{FAFF37CD-182E-476D-B28D-18D205E55298}" srcOrd="0" destOrd="0" presId="urn:microsoft.com/office/officeart/2018/2/layout/IconVerticalSolidList"/>
    <dgm:cxn modelId="{124407CF-B530-4EF7-BD00-7A6DBB7FA57A}" type="presOf" srcId="{C28C2E14-516E-4DB0-B145-4C4ECECB7086}" destId="{9F32DE84-3FEB-4FDB-95D0-1C35E4272FF2}" srcOrd="0" destOrd="0" presId="urn:microsoft.com/office/officeart/2018/2/layout/IconVerticalSolidList"/>
    <dgm:cxn modelId="{22F61FDC-0361-415A-983A-553846A25F7C}" srcId="{0D120C4D-DD5B-405B-A483-44DEA9CD1EE4}" destId="{056F458C-D92D-49C0-993E-54825C8E8D84}" srcOrd="3" destOrd="0" parTransId="{FDBC34CA-9B1B-464F-AA1A-444510B9A355}" sibTransId="{A03E3B15-AAE2-4122-BAB5-57DF15744C03}"/>
    <dgm:cxn modelId="{816585F8-ACB1-4832-BA7D-1A51946BD253}" srcId="{0D120C4D-DD5B-405B-A483-44DEA9CD1EE4}" destId="{6350F186-A36A-4AE1-B9E9-6FCD77436D2D}" srcOrd="2" destOrd="0" parTransId="{EA031DD2-0942-4FC1-A74E-57D4B173FE93}" sibTransId="{F58450AE-1F2A-46DB-9FD9-1A9EE03D1EE2}"/>
    <dgm:cxn modelId="{BBECF58B-F1ED-44DD-BEA2-5896F97EE8FE}" type="presParOf" srcId="{B3D66858-E7B0-49E3-A8A2-26A57899504A}" destId="{DFE5AE7D-A4C7-430F-B015-F2489C2526D9}" srcOrd="0" destOrd="0" presId="urn:microsoft.com/office/officeart/2018/2/layout/IconVerticalSolidList"/>
    <dgm:cxn modelId="{2948231B-2170-4A3E-AA10-4C4A73DA8D98}" type="presParOf" srcId="{DFE5AE7D-A4C7-430F-B015-F2489C2526D9}" destId="{61B2DCBC-97BA-402F-B49B-1E55AB5F1161}" srcOrd="0" destOrd="0" presId="urn:microsoft.com/office/officeart/2018/2/layout/IconVerticalSolidList"/>
    <dgm:cxn modelId="{F9400B19-2CE3-4594-9902-340599C08FCB}" type="presParOf" srcId="{DFE5AE7D-A4C7-430F-B015-F2489C2526D9}" destId="{67B6A446-57DD-4921-8CD9-5FB001AC5CEA}" srcOrd="1" destOrd="0" presId="urn:microsoft.com/office/officeart/2018/2/layout/IconVerticalSolidList"/>
    <dgm:cxn modelId="{426A21AC-5BF0-4789-8D20-14A9D56937E5}" type="presParOf" srcId="{DFE5AE7D-A4C7-430F-B015-F2489C2526D9}" destId="{8A697D86-7E8C-4F1B-A922-B491D7A27749}" srcOrd="2" destOrd="0" presId="urn:microsoft.com/office/officeart/2018/2/layout/IconVerticalSolidList"/>
    <dgm:cxn modelId="{7E5D270D-7D9B-41A7-B4EA-B75936146343}" type="presParOf" srcId="{DFE5AE7D-A4C7-430F-B015-F2489C2526D9}" destId="{9F32DE84-3FEB-4FDB-95D0-1C35E4272FF2}" srcOrd="3" destOrd="0" presId="urn:microsoft.com/office/officeart/2018/2/layout/IconVerticalSolidList"/>
    <dgm:cxn modelId="{19009F84-7CB1-44C6-937E-3CF71170DD5D}" type="presParOf" srcId="{B3D66858-E7B0-49E3-A8A2-26A57899504A}" destId="{8D189DD2-6250-4807-A020-6A5BE58939BE}" srcOrd="1" destOrd="0" presId="urn:microsoft.com/office/officeart/2018/2/layout/IconVerticalSolidList"/>
    <dgm:cxn modelId="{39E2C3BB-82CF-427F-B9AF-D91AF68C694B}" type="presParOf" srcId="{B3D66858-E7B0-49E3-A8A2-26A57899504A}" destId="{EEB312A4-F035-48F0-B4A9-BDD1D88F96D9}" srcOrd="2" destOrd="0" presId="urn:microsoft.com/office/officeart/2018/2/layout/IconVerticalSolidList"/>
    <dgm:cxn modelId="{3187BE96-D3CE-473E-843D-2070010254A4}" type="presParOf" srcId="{EEB312A4-F035-48F0-B4A9-BDD1D88F96D9}" destId="{25714331-85A2-4321-B317-710AF815CAD0}" srcOrd="0" destOrd="0" presId="urn:microsoft.com/office/officeart/2018/2/layout/IconVerticalSolidList"/>
    <dgm:cxn modelId="{CB21A18D-217E-431C-A216-E22E0D65C6B2}" type="presParOf" srcId="{EEB312A4-F035-48F0-B4A9-BDD1D88F96D9}" destId="{1CB1B9C8-FB44-4EA1-B00B-A1CC1C80D3CD}" srcOrd="1" destOrd="0" presId="urn:microsoft.com/office/officeart/2018/2/layout/IconVerticalSolidList"/>
    <dgm:cxn modelId="{731FB667-E0A6-41B1-A942-650F8BEE8940}" type="presParOf" srcId="{EEB312A4-F035-48F0-B4A9-BDD1D88F96D9}" destId="{39AC203A-2A33-4008-8676-FEF38FE434EE}" srcOrd="2" destOrd="0" presId="urn:microsoft.com/office/officeart/2018/2/layout/IconVerticalSolidList"/>
    <dgm:cxn modelId="{0A54C5C9-2AED-48EE-94E6-016BAE2D5773}" type="presParOf" srcId="{EEB312A4-F035-48F0-B4A9-BDD1D88F96D9}" destId="{FAFF37CD-182E-476D-B28D-18D205E55298}" srcOrd="3" destOrd="0" presId="urn:microsoft.com/office/officeart/2018/2/layout/IconVerticalSolidList"/>
    <dgm:cxn modelId="{567FFC0A-BEDC-4515-8149-A097A8CFF633}" type="presParOf" srcId="{B3D66858-E7B0-49E3-A8A2-26A57899504A}" destId="{3216AFE9-D851-4BBF-A5CF-0D6B4AD4AA35}" srcOrd="3" destOrd="0" presId="urn:microsoft.com/office/officeart/2018/2/layout/IconVerticalSolidList"/>
    <dgm:cxn modelId="{34B37AB7-12C9-4F2C-B5F0-81C698A51577}" type="presParOf" srcId="{B3D66858-E7B0-49E3-A8A2-26A57899504A}" destId="{B9AADB0F-51D9-42F1-B02F-9BF4C05E6CA1}" srcOrd="4" destOrd="0" presId="urn:microsoft.com/office/officeart/2018/2/layout/IconVerticalSolidList"/>
    <dgm:cxn modelId="{89F1BE80-5F34-42B6-8F0B-CDB5866F6BDD}" type="presParOf" srcId="{B9AADB0F-51D9-42F1-B02F-9BF4C05E6CA1}" destId="{944985AE-3535-4AA9-B6D6-E2E4156A27C5}" srcOrd="0" destOrd="0" presId="urn:microsoft.com/office/officeart/2018/2/layout/IconVerticalSolidList"/>
    <dgm:cxn modelId="{7E20D98C-3FB4-4926-A1F3-9A8296DEBCE3}" type="presParOf" srcId="{B9AADB0F-51D9-42F1-B02F-9BF4C05E6CA1}" destId="{144DFC12-804C-40CF-A40B-592FFBC39403}" srcOrd="1" destOrd="0" presId="urn:microsoft.com/office/officeart/2018/2/layout/IconVerticalSolidList"/>
    <dgm:cxn modelId="{551E3DA4-8321-4F9A-905B-B823BE4016B9}" type="presParOf" srcId="{B9AADB0F-51D9-42F1-B02F-9BF4C05E6CA1}" destId="{DAB0C6CC-0D5E-41D4-9A07-13E35D17EDDF}" srcOrd="2" destOrd="0" presId="urn:microsoft.com/office/officeart/2018/2/layout/IconVerticalSolidList"/>
    <dgm:cxn modelId="{5095AD18-0DE9-475A-9D2F-7EEB7ED005A8}" type="presParOf" srcId="{B9AADB0F-51D9-42F1-B02F-9BF4C05E6CA1}" destId="{D5361861-10F7-4CA5-A889-0AD17A8FDFC8}" srcOrd="3" destOrd="0" presId="urn:microsoft.com/office/officeart/2018/2/layout/IconVerticalSolidList"/>
    <dgm:cxn modelId="{F2157D9A-E0ED-458A-8460-7C67E749F4B2}" type="presParOf" srcId="{B3D66858-E7B0-49E3-A8A2-26A57899504A}" destId="{07E853C0-9A1A-4112-AC4D-2013B9AB456E}" srcOrd="5" destOrd="0" presId="urn:microsoft.com/office/officeart/2018/2/layout/IconVerticalSolidList"/>
    <dgm:cxn modelId="{120E7B08-4C91-40DD-8BA3-CC8AE7DE60C6}" type="presParOf" srcId="{B3D66858-E7B0-49E3-A8A2-26A57899504A}" destId="{0E66EB13-2BB2-42E1-8891-C345CAAEB374}" srcOrd="6" destOrd="0" presId="urn:microsoft.com/office/officeart/2018/2/layout/IconVerticalSolidList"/>
    <dgm:cxn modelId="{DEC7E6A1-ECAE-48F3-A7AC-6CBDAF8E1649}" type="presParOf" srcId="{0E66EB13-2BB2-42E1-8891-C345CAAEB374}" destId="{3E853DB7-8207-4CC5-9CA2-29FFD8DE903F}" srcOrd="0" destOrd="0" presId="urn:microsoft.com/office/officeart/2018/2/layout/IconVerticalSolidList"/>
    <dgm:cxn modelId="{6350B39C-6947-4885-ACAF-34A4A77FF8BF}" type="presParOf" srcId="{0E66EB13-2BB2-42E1-8891-C345CAAEB374}" destId="{08920C32-07E9-490D-8A18-DB63985D17B3}" srcOrd="1" destOrd="0" presId="urn:microsoft.com/office/officeart/2018/2/layout/IconVerticalSolidList"/>
    <dgm:cxn modelId="{5AE9473B-C866-4CCC-854E-FD1566C4FE42}" type="presParOf" srcId="{0E66EB13-2BB2-42E1-8891-C345CAAEB374}" destId="{403F729D-51D8-41EE-B2A4-0881B88BD979}" srcOrd="2" destOrd="0" presId="urn:microsoft.com/office/officeart/2018/2/layout/IconVerticalSolidList"/>
    <dgm:cxn modelId="{18E2F654-AAE6-4F9A-9757-2EB291139D6A}" type="presParOf" srcId="{0E66EB13-2BB2-42E1-8891-C345CAAEB374}" destId="{79AFA201-B753-46A5-BEF1-34BBE2ACC1C3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B2DCBC-97BA-402F-B49B-1E55AB5F1161}">
      <dsp:nvSpPr>
        <dsp:cNvPr id="0" name=""/>
        <dsp:cNvSpPr/>
      </dsp:nvSpPr>
      <dsp:spPr>
        <a:xfrm>
          <a:off x="0" y="2110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B6A446-57DD-4921-8CD9-5FB001AC5CEA}">
      <dsp:nvSpPr>
        <dsp:cNvPr id="0" name=""/>
        <dsp:cNvSpPr/>
      </dsp:nvSpPr>
      <dsp:spPr>
        <a:xfrm>
          <a:off x="323505" y="242734"/>
          <a:ext cx="588192" cy="5881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32DE84-3FEB-4FDB-95D0-1C35E4272FF2}">
      <dsp:nvSpPr>
        <dsp:cNvPr id="0" name=""/>
        <dsp:cNvSpPr/>
      </dsp:nvSpPr>
      <dsp:spPr>
        <a:xfrm>
          <a:off x="1235204" y="2110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What is Selenium ? </a:t>
          </a:r>
        </a:p>
      </dsp:txBody>
      <dsp:txXfrm>
        <a:off x="1235204" y="2110"/>
        <a:ext cx="6290307" cy="1069440"/>
      </dsp:txXfrm>
    </dsp:sp>
    <dsp:sp modelId="{25714331-85A2-4321-B317-710AF815CAD0}">
      <dsp:nvSpPr>
        <dsp:cNvPr id="0" name=""/>
        <dsp:cNvSpPr/>
      </dsp:nvSpPr>
      <dsp:spPr>
        <a:xfrm>
          <a:off x="0" y="1338911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B1B9C8-FB44-4EA1-B00B-A1CC1C80D3CD}">
      <dsp:nvSpPr>
        <dsp:cNvPr id="0" name=""/>
        <dsp:cNvSpPr/>
      </dsp:nvSpPr>
      <dsp:spPr>
        <a:xfrm>
          <a:off x="323505" y="1579535"/>
          <a:ext cx="588192" cy="5881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FF37CD-182E-476D-B28D-18D205E55298}">
      <dsp:nvSpPr>
        <dsp:cNvPr id="0" name=""/>
        <dsp:cNvSpPr/>
      </dsp:nvSpPr>
      <dsp:spPr>
        <a:xfrm>
          <a:off x="1235204" y="1338911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Industry Examples</a:t>
          </a:r>
        </a:p>
      </dsp:txBody>
      <dsp:txXfrm>
        <a:off x="1235204" y="1338911"/>
        <a:ext cx="6290307" cy="1069440"/>
      </dsp:txXfrm>
    </dsp:sp>
    <dsp:sp modelId="{944985AE-3535-4AA9-B6D6-E2E4156A27C5}">
      <dsp:nvSpPr>
        <dsp:cNvPr id="0" name=""/>
        <dsp:cNvSpPr/>
      </dsp:nvSpPr>
      <dsp:spPr>
        <a:xfrm>
          <a:off x="0" y="2675712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DFC12-804C-40CF-A40B-592FFBC39403}">
      <dsp:nvSpPr>
        <dsp:cNvPr id="0" name=""/>
        <dsp:cNvSpPr/>
      </dsp:nvSpPr>
      <dsp:spPr>
        <a:xfrm>
          <a:off x="323505" y="2916336"/>
          <a:ext cx="588192" cy="5881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361861-10F7-4CA5-A889-0AD17A8FDFC8}">
      <dsp:nvSpPr>
        <dsp:cNvPr id="0" name=""/>
        <dsp:cNvSpPr/>
      </dsp:nvSpPr>
      <dsp:spPr>
        <a:xfrm>
          <a:off x="1235204" y="2675712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Technical Setup and Deep Dive</a:t>
          </a:r>
        </a:p>
      </dsp:txBody>
      <dsp:txXfrm>
        <a:off x="1235204" y="2675712"/>
        <a:ext cx="6290307" cy="1069440"/>
      </dsp:txXfrm>
    </dsp:sp>
    <dsp:sp modelId="{3E853DB7-8207-4CC5-9CA2-29FFD8DE903F}">
      <dsp:nvSpPr>
        <dsp:cNvPr id="0" name=""/>
        <dsp:cNvSpPr/>
      </dsp:nvSpPr>
      <dsp:spPr>
        <a:xfrm>
          <a:off x="0" y="4012513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20C32-07E9-490D-8A18-DB63985D17B3}">
      <dsp:nvSpPr>
        <dsp:cNvPr id="0" name=""/>
        <dsp:cNvSpPr/>
      </dsp:nvSpPr>
      <dsp:spPr>
        <a:xfrm>
          <a:off x="323505" y="4253137"/>
          <a:ext cx="588192" cy="58819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AFA201-B753-46A5-BEF1-34BBE2ACC1C3}">
      <dsp:nvSpPr>
        <dsp:cNvPr id="0" name=""/>
        <dsp:cNvSpPr/>
      </dsp:nvSpPr>
      <dsp:spPr>
        <a:xfrm>
          <a:off x="1235204" y="4012513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Library showcase </a:t>
          </a:r>
        </a:p>
      </dsp:txBody>
      <dsp:txXfrm>
        <a:off x="1235204" y="4012513"/>
        <a:ext cx="6290307" cy="1069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5D9CA2-542B-0A49-8F43-5D29D434D5E2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94CD77-B4EF-6A42-BCF9-E41288FFA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18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94CD77-B4EF-6A42-BCF9-E41288FFA3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03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11/2/25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0112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00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12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49834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46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9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89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762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54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10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464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93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formula1.co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02078-F6C7-8736-BC79-009881EB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78915" y="1215681"/>
            <a:ext cx="5961725" cy="3339390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chemeClr val="tx1"/>
                </a:solidFill>
              </a:rPr>
              <a:t>Selenium Library for Data Science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6E0BE-5B06-9EF2-6121-EC973B83B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8914" y="4876803"/>
            <a:ext cx="5540817" cy="909848"/>
          </a:xfrm>
        </p:spPr>
        <p:txBody>
          <a:bodyPr anchor="t">
            <a:normAutofit/>
          </a:bodyPr>
          <a:lstStyle/>
          <a:p>
            <a:r>
              <a:rPr lang="en-US" sz="2000" b="1" dirty="0">
                <a:solidFill>
                  <a:schemeClr val="tx1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Selenium: Automating Web Data Collection for Data Scientists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green logo with a white background&#10;&#10;AI-generated content may be incorrect.">
            <a:extLst>
              <a:ext uri="{FF2B5EF4-FFF2-40B4-BE49-F238E27FC236}">
                <a16:creationId xmlns:a16="http://schemas.microsoft.com/office/drawing/2014/main" id="{50CD2DC2-DE13-2014-96D9-10889DE14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" y="2589088"/>
            <a:ext cx="3889081" cy="201259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0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84F5C-074D-3F74-7342-7715EDD82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98" y="2651734"/>
            <a:ext cx="2823339" cy="2012733"/>
          </a:xfrm>
        </p:spPr>
        <p:txBody>
          <a:bodyPr>
            <a:normAutofit/>
          </a:bodyPr>
          <a:lstStyle/>
          <a:p>
            <a:r>
              <a:rPr lang="en-US" dirty="0"/>
              <a:t>Table of Content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6CF067-46C4-50B7-BD6A-1BBDC37E1D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127377"/>
              </p:ext>
            </p:extLst>
          </p:nvPr>
        </p:nvGraphicFramePr>
        <p:xfrm>
          <a:off x="3774950" y="1110996"/>
          <a:ext cx="7525512" cy="5084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7194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4265F-A281-6F32-0BD7-22D50579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7532" y="1959431"/>
            <a:ext cx="5974042" cy="91055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Selenium?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6585E6E-D941-7C67-B124-C342D081BF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" r="44535" b="-1"/>
          <a:stretch>
            <a:fillRect/>
          </a:stretch>
        </p:blipFill>
        <p:spPr>
          <a:xfrm>
            <a:off x="1" y="10"/>
            <a:ext cx="5215066" cy="6857990"/>
          </a:xfrm>
          <a:custGeom>
            <a:avLst/>
            <a:gdLst/>
            <a:ahLst/>
            <a:cxnLst/>
            <a:rect l="l" t="t" r="r" b="b"/>
            <a:pathLst>
              <a:path w="5215066" h="6845983">
                <a:moveTo>
                  <a:pt x="0" y="0"/>
                </a:moveTo>
                <a:lnTo>
                  <a:pt x="3197713" y="0"/>
                </a:lnTo>
                <a:lnTo>
                  <a:pt x="3259787" y="39795"/>
                </a:lnTo>
                <a:cubicBezTo>
                  <a:pt x="4439462" y="836768"/>
                  <a:pt x="5215066" y="2186425"/>
                  <a:pt x="5215066" y="3717234"/>
                </a:cubicBezTo>
                <a:cubicBezTo>
                  <a:pt x="5215066" y="4788800"/>
                  <a:pt x="4835020" y="5771602"/>
                  <a:pt x="4202364" y="6538204"/>
                </a:cubicBezTo>
                <a:lnTo>
                  <a:pt x="3922635" y="6845983"/>
                </a:lnTo>
                <a:lnTo>
                  <a:pt x="0" y="6845983"/>
                </a:lnTo>
                <a:close/>
              </a:path>
            </a:pathLst>
          </a:cu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FC086D-39EC-448D-97E7-FF23235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86332" y="3088919"/>
            <a:ext cx="521208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F3E30-842A-95A4-D708-FDCC516CA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7531" y="3195269"/>
            <a:ext cx="5677160" cy="3549912"/>
          </a:xfrm>
        </p:spPr>
        <p:txBody>
          <a:bodyPr anchor="ctr">
            <a:normAutofit fontScale="85000" lnSpcReduction="20000"/>
          </a:bodyPr>
          <a:lstStyle/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Library:</a:t>
            </a:r>
            <a:r>
              <a:rPr lang="en-US" sz="1400" dirty="0"/>
              <a:t> Selenium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Purpose:</a:t>
            </a:r>
            <a:r>
              <a:rPr lang="en-US" sz="1400" dirty="0"/>
              <a:t> Browser automation and web scraping for dynamic content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Key Capabilities: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Control web browsers programmatically (Chrome, Firefox, Safari, Edge)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Handle JavaScript-heavy websites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Simulate user interactions (clicks, forms, scrolling)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Extract data from complex web applications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Wait for dynamic content to load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 startAt="4"/>
            </a:pPr>
            <a:r>
              <a:rPr lang="en-US" sz="1400" b="1" dirty="0"/>
              <a:t>Why Data Scientists Need It: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Real-time data collection from websites without APIs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Scraping dynamic content that traditional HTTP libraries can't access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Automating repetitive data gathering tasks</a:t>
            </a:r>
          </a:p>
          <a:p>
            <a:pPr>
              <a:lnSpc>
                <a:spcPct val="120000"/>
              </a:lnSpc>
            </a:pPr>
            <a:endParaRPr lang="en-US" sz="1400" dirty="0"/>
          </a:p>
        </p:txBody>
      </p:sp>
      <p:sp>
        <p:nvSpPr>
          <p:cNvPr id="19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015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0E6F75-1F6D-92EF-B087-3DB3F1DA9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18768"/>
            <a:ext cx="3255264" cy="2032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group of people standing next to a large blue letter&#10;&#10;AI-generated content may be incorrect.">
            <a:extLst>
              <a:ext uri="{FF2B5EF4-FFF2-40B4-BE49-F238E27FC236}">
                <a16:creationId xmlns:a16="http://schemas.microsoft.com/office/drawing/2014/main" id="{C6C5EC76-412B-1953-5AF0-C8508B94B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1" y="444063"/>
            <a:ext cx="5173133" cy="2586565"/>
          </a:xfrm>
          <a:prstGeom prst="rect">
            <a:avLst/>
          </a:prstGeom>
        </p:spPr>
      </p:pic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9FBB6B46-47AB-15B6-CC7C-AA309AA65A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019" b="6711"/>
          <a:stretch>
            <a:fillRect/>
          </a:stretch>
        </p:blipFill>
        <p:spPr>
          <a:xfrm>
            <a:off x="6544394" y="442291"/>
            <a:ext cx="4604618" cy="2590109"/>
          </a:xfrm>
          <a:prstGeom prst="rect">
            <a:avLst/>
          </a:prstGeom>
        </p:spPr>
      </p:pic>
      <p:sp>
        <p:nvSpPr>
          <p:cNvPr id="30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AFE1AE-CD67-FB3C-BF3A-1567A571E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86401" y="3474690"/>
            <a:ext cx="7705598" cy="3383310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Job Market &amp; HR Analytics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/>
              <a:t>Use Cases: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b="1" dirty="0"/>
              <a:t>Salary Benchmarking</a:t>
            </a:r>
            <a:r>
              <a:rPr lang="en-US" sz="1400" dirty="0"/>
              <a:t>: Collecting compensation data from job postings across industries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Skills Demand Analysis</a:t>
            </a:r>
            <a:r>
              <a:rPr lang="en-US" sz="1400" dirty="0"/>
              <a:t>: Identifying trending skills and technologies in job descriptions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Talent Pool Mapping</a:t>
            </a:r>
            <a:r>
              <a:rPr lang="en-US" sz="1400" dirty="0"/>
              <a:t>: Tracking where companies are hiring and for what positions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Recruitment Intelligence</a:t>
            </a:r>
            <a:r>
              <a:rPr lang="en-US" sz="1400" dirty="0"/>
              <a:t>: Monitoring competitor hiring patterns and organizational growth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sz="1400" b="1" dirty="0"/>
              <a:t>Example:</a:t>
            </a:r>
            <a:r>
              <a:rPr lang="en-US" sz="1400" dirty="0"/>
              <a:t> HR consultancies build comprehensive salary databases by scraping 100,000+ job postings monthly, providing clients with market-rate compensation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436415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7D1B2-222B-5C39-7415-360EFEF46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06AF59-1DD7-6396-4913-F9DD9707C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42" y="3900942"/>
            <a:ext cx="3340354" cy="20336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A41200DD-D498-7F3F-2F08-6A89CC15D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" r="2" b="1587"/>
          <a:stretch>
            <a:fillRect/>
          </a:stretch>
        </p:blipFill>
        <p:spPr>
          <a:xfrm>
            <a:off x="6787725" y="298342"/>
            <a:ext cx="4105201" cy="2590110"/>
          </a:xfrm>
          <a:prstGeom prst="rect">
            <a:avLst/>
          </a:prstGeom>
        </p:spPr>
      </p:pic>
      <p:pic>
        <p:nvPicPr>
          <p:cNvPr id="3" name="Picture 2" descr="A hand holding a suitcase in an airport&#10;&#10;AI-generated content may be incorrect.">
            <a:extLst>
              <a:ext uri="{FF2B5EF4-FFF2-40B4-BE49-F238E27FC236}">
                <a16:creationId xmlns:a16="http://schemas.microsoft.com/office/drawing/2014/main" id="{396BFC23-0624-5070-FA8A-7C0093448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71" r="2" b="15500"/>
          <a:stretch>
            <a:fillRect/>
          </a:stretch>
        </p:blipFill>
        <p:spPr>
          <a:xfrm>
            <a:off x="898206" y="298343"/>
            <a:ext cx="4998434" cy="2590109"/>
          </a:xfrm>
          <a:prstGeom prst="rect">
            <a:avLst/>
          </a:prstGeom>
        </p:spPr>
      </p:pic>
      <p:sp>
        <p:nvSpPr>
          <p:cNvPr id="5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859D69-C85A-F00E-A322-6544EE889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39438" y="3474691"/>
            <a:ext cx="8052562" cy="3383310"/>
          </a:xfrm>
        </p:spPr>
        <p:txBody>
          <a:bodyPr vert="horz" lIns="91440" tIns="45720" rIns="91440" bIns="45720" rtlCol="0" anchor="ctr">
            <a:normAutofit fontScale="62500" lnSpcReduction="20000"/>
          </a:bodyPr>
          <a:lstStyle/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sz="4700" b="1" dirty="0"/>
              <a:t>Travel &amp; Hospitality Intelligence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/>
            </a:pPr>
            <a:r>
              <a:rPr lang="en-US" sz="2200" b="1" dirty="0"/>
              <a:t>Use Cases:</a:t>
            </a:r>
            <a:endParaRPr lang="en-US" sz="2200" dirty="0"/>
          </a:p>
          <a:p>
            <a:pPr>
              <a:lnSpc>
                <a:spcPct val="160000"/>
              </a:lnSpc>
            </a:pPr>
            <a:r>
              <a:rPr lang="en-US" sz="2200" b="1" dirty="0"/>
              <a:t>Dynamic Pricing Analysis</a:t>
            </a:r>
            <a:r>
              <a:rPr lang="en-US" sz="2200" dirty="0"/>
              <a:t>: Tracking hotel and flight prices across booking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Occupancy Rate Estimation</a:t>
            </a:r>
            <a:r>
              <a:rPr lang="en-US" sz="2200" dirty="0"/>
              <a:t>: Monitoring availability patterns to estimate demand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Review Aggregation</a:t>
            </a:r>
            <a:r>
              <a:rPr lang="en-US" sz="2200" dirty="0"/>
              <a:t>: Collecting customer reviews from multiple travel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Competitive Benchmarking</a:t>
            </a:r>
            <a:r>
              <a:rPr lang="en-US" sz="2200" dirty="0"/>
              <a:t>: Comparing amenities, pricing, and customer satisfaction metrics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 startAt="2"/>
            </a:pPr>
            <a:r>
              <a:rPr lang="en-US" sz="2200" b="1" dirty="0"/>
              <a:t>Example:</a:t>
            </a:r>
            <a:r>
              <a:rPr lang="en-US" sz="2200" dirty="0"/>
              <a:t> Hotel chains scrape competitor pricing data 24/7 to optimize their revenue management systems and adjust room rates dynamically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3461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10C9A191-62EE-4A86-8FF9-6794BC3C5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artoon of a person standing in front of signs&#10;&#10;AI-generated content may be incorrect.">
            <a:extLst>
              <a:ext uri="{FF2B5EF4-FFF2-40B4-BE49-F238E27FC236}">
                <a16:creationId xmlns:a16="http://schemas.microsoft.com/office/drawing/2014/main" id="{C88ECF3F-4005-16EC-D66D-4961C931FFC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40000"/>
          </a:blip>
          <a:srcRect t="13676" b="5967"/>
          <a:stretch>
            <a:fillRect/>
          </a:stretch>
        </p:blipFill>
        <p:spPr>
          <a:xfrm>
            <a:off x="59841" y="255286"/>
            <a:ext cx="12191980" cy="685799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6222F81D-28CB-42CB-9961-602C33F65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1999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3195A3-109D-9DDC-3D7B-49700FAA9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211" y="1542885"/>
            <a:ext cx="3898078" cy="41486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700" b="1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Best Practices for Web Scraping</a:t>
            </a:r>
            <a:br>
              <a:rPr lang="en-US" sz="4700" b="1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br>
              <a:rPr lang="en-US" sz="4700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br>
              <a:rPr lang="en-US" sz="4700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endParaRPr lang="en-US" sz="4700" i="1" kern="1200" spc="100" baseline="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1E1E49-F752-49CA-BFF6-1303B0A8AA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2021" y="1143293"/>
            <a:ext cx="0" cy="57147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B782-981F-D7A3-9FB7-130C62CD7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9472" y="1143293"/>
            <a:ext cx="7172528" cy="54546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sz="1800" b="1" dirty="0"/>
              <a:t>IMPORTANT:</a:t>
            </a:r>
            <a:r>
              <a:rPr lang="en-US" sz="1800" dirty="0"/>
              <a:t> Before scraping any website, you must: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Review Terms of Service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Check </a:t>
            </a:r>
            <a:r>
              <a:rPr lang="en-US" sz="1800" b="1" dirty="0" err="1"/>
              <a:t>robots.txt</a:t>
            </a:r>
            <a:r>
              <a:rPr lang="en-US" sz="1800" b="1" dirty="0"/>
              <a:t> file</a:t>
            </a:r>
            <a:endParaRPr lang="en-US" sz="1800" dirty="0"/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Respect copyright</a:t>
            </a:r>
            <a:endParaRPr lang="en-US" sz="1800" dirty="0"/>
          </a:p>
          <a:p>
            <a:pPr marL="52578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n-US" sz="1800" b="1" dirty="0"/>
              <a:t>Consider legal alternatives:</a:t>
            </a:r>
            <a:endParaRPr lang="en-US" sz="1800" b="1" i="1" dirty="0"/>
          </a:p>
          <a:p>
            <a:pPr marL="468630" indent="-285750">
              <a:lnSpc>
                <a:spcPct val="150000"/>
              </a:lnSpc>
            </a:pPr>
            <a:r>
              <a:rPr lang="en-US" sz="1800" i="0" dirty="0"/>
              <a:t>Use official APIs 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i="0" dirty="0"/>
              <a:t>Use datasets from Kaggle or data repositories</a:t>
            </a:r>
          </a:p>
          <a:p>
            <a:pPr marL="46863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i="0" dirty="0"/>
              <a:t>Scrape sites explicitly designed for it</a:t>
            </a:r>
          </a:p>
          <a:p>
            <a:pPr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4E75910E-4112-4447-8981-4CA7ACEF9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357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BDD68B-BFBC-4D7F-6BC2-3251827AC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1" y="893935"/>
            <a:ext cx="7050881" cy="33393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dirty="0"/>
              <a:t>Technical Setup and Deep Dive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40408" y="4555071"/>
            <a:ext cx="7040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4145496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23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98026-FDEC-E9F6-E519-4DFE50585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Installation &amp; Setup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11FC692-FECD-D540-842D-4C86494154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825" y="2665474"/>
            <a:ext cx="10536883" cy="3872529"/>
          </a:xfrm>
        </p:spPr>
      </p:pic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55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E0E7B8-B269-D77F-086D-FD1F474EC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20" y="2840853"/>
            <a:ext cx="7604760" cy="26404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dirty="0"/>
              <a:t>Core Selenium Concepts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865120" y="2519131"/>
            <a:ext cx="932688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89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F813-9486-D2A5-9AA0-E1175FAEA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3678" y="619103"/>
            <a:ext cx="8904643" cy="1059090"/>
          </a:xfrm>
        </p:spPr>
        <p:txBody>
          <a:bodyPr>
            <a:noAutofit/>
          </a:bodyPr>
          <a:lstStyle/>
          <a:p>
            <a:r>
              <a:rPr lang="en-US" b="1" dirty="0"/>
              <a:t>1. WebDriver Initialization</a:t>
            </a:r>
            <a:br>
              <a:rPr lang="en-US" dirty="0"/>
            </a:br>
            <a:endParaRPr lang="en-US" dirty="0"/>
          </a:p>
        </p:txBody>
      </p:sp>
      <p:pic>
        <p:nvPicPr>
          <p:cNvPr id="7" name="Content Placeholder 6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4B918D5F-A2C9-217E-8537-BF9375741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33" y="2659050"/>
            <a:ext cx="12099532" cy="2364170"/>
          </a:xfrm>
        </p:spPr>
      </p:pic>
    </p:spTree>
    <p:extLst>
      <p:ext uri="{BB962C8B-B14F-4D97-AF65-F5344CB8AC3E}">
        <p14:creationId xmlns:p14="http://schemas.microsoft.com/office/powerpoint/2010/main" val="281502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F40F-6875-75BD-8480-87EA2B77D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028" y="394210"/>
            <a:ext cx="6799943" cy="972457"/>
          </a:xfrm>
        </p:spPr>
        <p:txBody>
          <a:bodyPr>
            <a:noAutofit/>
          </a:bodyPr>
          <a:lstStyle/>
          <a:p>
            <a:r>
              <a:rPr lang="en-US" b="1" dirty="0"/>
              <a:t>2. Finding Elements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DECB630-DB1B-AEF4-FF1C-0269B6BBF0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920" y="2408229"/>
            <a:ext cx="10860158" cy="2514879"/>
          </a:xfrm>
        </p:spPr>
      </p:pic>
    </p:spTree>
    <p:extLst>
      <p:ext uri="{BB962C8B-B14F-4D97-AF65-F5344CB8AC3E}">
        <p14:creationId xmlns:p14="http://schemas.microsoft.com/office/powerpoint/2010/main" val="3879600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B25E-8E93-1018-7F86-AD6759A15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032" y="387190"/>
            <a:ext cx="10891580" cy="1059090"/>
          </a:xfrm>
        </p:spPr>
        <p:txBody>
          <a:bodyPr>
            <a:noAutofit/>
          </a:bodyPr>
          <a:lstStyle/>
          <a:p>
            <a:r>
              <a:rPr lang="en-US" b="1" dirty="0"/>
              <a:t>3. Waiting for Dynamic Content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computer screen with colorful text&#10;&#10;AI-generated content may be incorrect.">
            <a:extLst>
              <a:ext uri="{FF2B5EF4-FFF2-40B4-BE49-F238E27FC236}">
                <a16:creationId xmlns:a16="http://schemas.microsoft.com/office/drawing/2014/main" id="{9B0F0843-4722-3571-2BE9-9493ECC138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216" y="2859314"/>
            <a:ext cx="11867568" cy="2322089"/>
          </a:xfrm>
        </p:spPr>
      </p:pic>
    </p:spTree>
    <p:extLst>
      <p:ext uri="{BB962C8B-B14F-4D97-AF65-F5344CB8AC3E}">
        <p14:creationId xmlns:p14="http://schemas.microsoft.com/office/powerpoint/2010/main" val="4201450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FB7E-B069-9534-5D09-F20848E8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F7CA-BADD-467C-F385-5D51E139E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3023" y="0"/>
            <a:ext cx="6825952" cy="1059090"/>
          </a:xfrm>
        </p:spPr>
        <p:txBody>
          <a:bodyPr>
            <a:noAutofit/>
          </a:bodyPr>
          <a:lstStyle/>
          <a:p>
            <a:r>
              <a:rPr lang="en-US" b="1" dirty="0"/>
              <a:t>4. Close the session</a:t>
            </a:r>
            <a:endParaRPr lang="en-US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F6893F4-3351-BC12-C6D9-F73B392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963" y="1305531"/>
            <a:ext cx="8366072" cy="555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301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8F4EB-AC71-741E-631E-F31F1E27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CBCE-62F8-2489-F35B-358C52914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133" y="2702128"/>
            <a:ext cx="7264301" cy="1243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Library Showcase</a:t>
            </a:r>
          </a:p>
        </p:txBody>
      </p:sp>
    </p:spTree>
    <p:extLst>
      <p:ext uri="{BB962C8B-B14F-4D97-AF65-F5344CB8AC3E}">
        <p14:creationId xmlns:p14="http://schemas.microsoft.com/office/powerpoint/2010/main" val="34802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CBD574-FBD5-C4EB-CD03-008DBA1EC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1043758"/>
            <a:ext cx="11655373" cy="819150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200" dirty="0"/>
              <a:t>Real World Example - F1 Data Scraping</a:t>
            </a:r>
            <a:br>
              <a:rPr lang="en-US" sz="3200" dirty="0"/>
            </a:br>
            <a:r>
              <a:rPr lang="en-US" sz="3200" dirty="0"/>
              <a:t>Target: Formula 1 Official Website (</a:t>
            </a:r>
            <a:r>
              <a:rPr lang="en-US" sz="3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https://www.formula1.com</a:t>
            </a:r>
            <a:r>
              <a:rPr lang="en-US" sz="3200" dirty="0"/>
              <a:t>)</a:t>
            </a:r>
            <a:br>
              <a:rPr lang="en-US" sz="3200" dirty="0"/>
            </a:br>
            <a:endParaRPr lang="en-US" sz="3200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D5E13B1-3A31-47C7-8474-7A3DE6006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3888" y="1976039"/>
            <a:ext cx="105156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 descr="A race car racing on a track&#10;&#10;AI-generated content may be incorrect.">
            <a:extLst>
              <a:ext uri="{FF2B5EF4-FFF2-40B4-BE49-F238E27FC236}">
                <a16:creationId xmlns:a16="http://schemas.microsoft.com/office/drawing/2014/main" id="{EE32A0BD-60D7-8311-8A83-243355A6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265"/>
          <a:stretch>
            <a:fillRect/>
          </a:stretch>
        </p:blipFill>
        <p:spPr>
          <a:xfrm>
            <a:off x="20" y="2202302"/>
            <a:ext cx="7534635" cy="4670981"/>
          </a:xfrm>
          <a:prstGeom prst="rect">
            <a:avLst/>
          </a:prstGeom>
        </p:spPr>
      </p:pic>
      <p:sp>
        <p:nvSpPr>
          <p:cNvPr id="53" name="Content Placeholder 41">
            <a:extLst>
              <a:ext uri="{FF2B5EF4-FFF2-40B4-BE49-F238E27FC236}">
                <a16:creationId xmlns:a16="http://schemas.microsoft.com/office/drawing/2014/main" id="{C4AADF99-339E-4073-3944-E19D4BB2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2199" y="2202302"/>
            <a:ext cx="4295806" cy="467098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800" b="1" dirty="0"/>
              <a:t>Data Collection Goals:</a:t>
            </a:r>
            <a:endParaRPr lang="en-US" sz="1800" dirty="0"/>
          </a:p>
          <a:p>
            <a:r>
              <a:rPr lang="en-US" sz="1800" dirty="0"/>
              <a:t>Race results (winners, dates, circuits)</a:t>
            </a:r>
          </a:p>
          <a:p>
            <a:r>
              <a:rPr lang="en-US" sz="1800" dirty="0"/>
              <a:t>Driver championship standings</a:t>
            </a:r>
          </a:p>
          <a:p>
            <a:r>
              <a:rPr lang="en-US" sz="1800" dirty="0"/>
              <a:t>Constructor (team) standings</a:t>
            </a:r>
          </a:p>
          <a:p>
            <a:r>
              <a:rPr lang="en-US" sz="1800" dirty="0"/>
              <a:t>Multi-season analysis (2023 vs 2024)</a:t>
            </a:r>
          </a:p>
          <a:p>
            <a:pPr marL="457200" indent="-457200">
              <a:buFont typeface="+mj-lt"/>
              <a:buAutoNum type="arabicPeriod" startAt="2"/>
            </a:pPr>
            <a:r>
              <a:rPr lang="en-US" sz="1800" b="1" dirty="0"/>
              <a:t>Why This Example?</a:t>
            </a:r>
            <a:endParaRPr lang="en-US" sz="1800" dirty="0"/>
          </a:p>
          <a:p>
            <a:r>
              <a:rPr lang="en-US" sz="1800" dirty="0"/>
              <a:t>Dynamic JavaScript-loaded content</a:t>
            </a:r>
          </a:p>
          <a:p>
            <a:r>
              <a:rPr lang="en-US" sz="1800" dirty="0"/>
              <a:t>Demonstrates waiting strategies</a:t>
            </a:r>
          </a:p>
          <a:p>
            <a:r>
              <a:rPr lang="en-US" sz="1800" dirty="0"/>
              <a:t>Real tables requiring parsing</a:t>
            </a:r>
          </a:p>
          <a:p>
            <a:r>
              <a:rPr lang="en-US" sz="1800" dirty="0"/>
              <a:t>Multi-page navigation</a:t>
            </a:r>
          </a:p>
          <a:p>
            <a:r>
              <a:rPr lang="en-US" sz="1800" dirty="0"/>
              <a:t>Practical sports analytics use case</a:t>
            </a:r>
          </a:p>
          <a:p>
            <a:endParaRPr lang="en-US" sz="1800" dirty="0"/>
          </a:p>
        </p:txBody>
      </p:sp>
      <p:sp>
        <p:nvSpPr>
          <p:cNvPr id="54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75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data processing&#10;&#10;AI-generated content may be incorrect.">
            <a:extLst>
              <a:ext uri="{FF2B5EF4-FFF2-40B4-BE49-F238E27FC236}">
                <a16:creationId xmlns:a16="http://schemas.microsoft.com/office/drawing/2014/main" id="{BF0FC785-6031-1183-4779-43EB5B72F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93" y="43805"/>
            <a:ext cx="9354414" cy="67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099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BECA6-D685-CF89-9C6C-87D24923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914" y="893935"/>
            <a:ext cx="5364937" cy="333939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b="1" i="1" kern="1200" spc="100" baseline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Code Walkthrough 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Graphic 5" descr="Checkmark">
            <a:extLst>
              <a:ext uri="{FF2B5EF4-FFF2-40B4-BE49-F238E27FC236}">
                <a16:creationId xmlns:a16="http://schemas.microsoft.com/office/drawing/2014/main" id="{61AD5A5C-2BBD-79BC-7A7D-57D9F997C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401" y="1793908"/>
            <a:ext cx="3491811" cy="349181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14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7114-4B92-8BC2-86C7-60E72454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9759" y="118334"/>
            <a:ext cx="4970663" cy="1011791"/>
          </a:xfrm>
        </p:spPr>
        <p:txBody>
          <a:bodyPr>
            <a:normAutofit fontScale="90000"/>
          </a:bodyPr>
          <a:lstStyle/>
          <a:p>
            <a:r>
              <a:rPr lang="en-US" sz="6600" b="1" dirty="0"/>
              <a:t>Display Result </a:t>
            </a:r>
          </a:p>
        </p:txBody>
      </p:sp>
      <p:pic>
        <p:nvPicPr>
          <p:cNvPr id="5" name="Content Placeholder 4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F97FB377-AFCE-D2BE-EAC2-F9D90FBE3B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1038" y="1130125"/>
            <a:ext cx="9629923" cy="5741523"/>
          </a:xfrm>
        </p:spPr>
      </p:pic>
    </p:spTree>
    <p:extLst>
      <p:ext uri="{BB962C8B-B14F-4D97-AF65-F5344CB8AC3E}">
        <p14:creationId xmlns:p14="http://schemas.microsoft.com/office/powerpoint/2010/main" val="4154007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76BC1-0CAA-DF8B-F3AD-A94AC3FB5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016" y="788533"/>
            <a:ext cx="9267968" cy="2732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800" dirty="0"/>
              <a:t>Thank you !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3842963"/>
            <a:ext cx="777240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CF8DD-7144-5A04-8E8C-F2B4918923F7}"/>
              </a:ext>
            </a:extLst>
          </p:cNvPr>
          <p:cNvSpPr txBox="1"/>
          <p:nvPr/>
        </p:nvSpPr>
        <p:spPr>
          <a:xfrm>
            <a:off x="4623185" y="4048143"/>
            <a:ext cx="294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114344525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2676</TotalTime>
  <Words>436</Words>
  <Application>Microsoft Macintosh PowerPoint</Application>
  <PresentationFormat>Widescreen</PresentationFormat>
  <Paragraphs>70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Avenir Next LT Pro</vt:lpstr>
      <vt:lpstr>Poppins Light</vt:lpstr>
      <vt:lpstr>Sitka Banner</vt:lpstr>
      <vt:lpstr>HeadlinesVTI</vt:lpstr>
      <vt:lpstr>Selenium Library for Data Science </vt:lpstr>
      <vt:lpstr>Table of Content </vt:lpstr>
      <vt:lpstr>What is Selenium?</vt:lpstr>
      <vt:lpstr>Industry Examples</vt:lpstr>
      <vt:lpstr>Industry Examples</vt:lpstr>
      <vt:lpstr>Best Practices for Web Scraping   </vt:lpstr>
      <vt:lpstr>Technical Setup and Deep Dive</vt:lpstr>
      <vt:lpstr>Installation &amp; Setup</vt:lpstr>
      <vt:lpstr>Core Selenium Concepts</vt:lpstr>
      <vt:lpstr>1. WebDriver Initialization </vt:lpstr>
      <vt:lpstr>2. Finding Elements </vt:lpstr>
      <vt:lpstr>3. Waiting for Dynamic Content </vt:lpstr>
      <vt:lpstr>4. Close the session</vt:lpstr>
      <vt:lpstr>Library Showcase</vt:lpstr>
      <vt:lpstr>Real World Example - F1 Data Scraping Target: Formula 1 Official Website (https://www.formula1.com) </vt:lpstr>
      <vt:lpstr>PowerPoint Presentation</vt:lpstr>
      <vt:lpstr>Code Walkthrough </vt:lpstr>
      <vt:lpstr>Display Result </vt:lpstr>
      <vt:lpstr>Thank you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Phan (He/Him)</dc:creator>
  <cp:lastModifiedBy>Minh Phan (He/Him)</cp:lastModifiedBy>
  <cp:revision>4</cp:revision>
  <dcterms:created xsi:type="dcterms:W3CDTF">2025-10-31T20:21:14Z</dcterms:created>
  <dcterms:modified xsi:type="dcterms:W3CDTF">2025-11-02T23:34:57Z</dcterms:modified>
</cp:coreProperties>
</file>